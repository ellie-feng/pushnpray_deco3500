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Lst>
  <p:sldSz cy="10287000" cx="18288000"/>
  <p:notesSz cx="10287000" cy="18288000"/>
  <p:embeddedFontLst>
    <p:embeddedFont>
      <p:font typeface="Figtree"/>
      <p:regular r:id="rId11"/>
      <p:bold r:id="rId12"/>
      <p:italic r:id="rId13"/>
      <p:boldItalic r:id="rId14"/>
    </p:embeddedFont>
    <p:embeddedFont>
      <p:font typeface="Caprasimo"/>
      <p:regular r:id="rId15"/>
    </p:embeddedFont>
    <p:embeddedFont>
      <p:font typeface="Figtree Light"/>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Figtree-regular.fntdata"/><Relationship Id="rId10" Type="http://schemas.openxmlformats.org/officeDocument/2006/relationships/slide" Target="slides/slide6.xml"/><Relationship Id="rId13" Type="http://schemas.openxmlformats.org/officeDocument/2006/relationships/font" Target="fonts/Figtree-italic.fntdata"/><Relationship Id="rId12" Type="http://schemas.openxmlformats.org/officeDocument/2006/relationships/font" Target="fonts/Figtree-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aprasimo-regular.fntdata"/><Relationship Id="rId14" Type="http://schemas.openxmlformats.org/officeDocument/2006/relationships/font" Target="fonts/Figtree-boldItalic.fntdata"/><Relationship Id="rId17" Type="http://schemas.openxmlformats.org/officeDocument/2006/relationships/font" Target="fonts/FigtreeLight-bold.fntdata"/><Relationship Id="rId16" Type="http://schemas.openxmlformats.org/officeDocument/2006/relationships/font" Target="fonts/FigtreeLight-regular.fntdata"/><Relationship Id="rId5" Type="http://schemas.openxmlformats.org/officeDocument/2006/relationships/slide" Target="slides/slide1.xml"/><Relationship Id="rId19" Type="http://schemas.openxmlformats.org/officeDocument/2006/relationships/font" Target="fonts/FigtreeLight-boldItalic.fntdata"/><Relationship Id="rId6" Type="http://schemas.openxmlformats.org/officeDocument/2006/relationships/slide" Target="slides/slide2.xml"/><Relationship Id="rId18" Type="http://schemas.openxmlformats.org/officeDocument/2006/relationships/font" Target="fonts/FigtreeLight-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Hi we’re team Push n Pray. Our team strengths include clear communication, attention to detail, creativity and passion. Our domain space is serendipitous connections on campus.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Technical vs non technical skill sets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We have a mix of leadership, and team players. Creative design and engineering skills. With a high exposure to creative tools like Figma, Canva and implementation tools like github and react. All of us understand the fundamental concepts of HCI necessary for completing this project. We have high accessibility to our intended audience, on campus UQ students. Not to mention, a rigorous organisation and documentation system. Meeting minutes, agendas and studio notes are taken and shared with everyone alongside bi-weekly meetings. Overall, we believe we are suitable to work on this domain space.</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br>
              <a:rPr lang="en-US" sz="1100">
                <a:latin typeface="Arial"/>
                <a:ea typeface="Arial"/>
                <a:cs typeface="Arial"/>
                <a:sym typeface="Arial"/>
              </a:rPr>
            </a:br>
            <a:r>
              <a:rPr lang="en-US" sz="1100">
                <a:latin typeface="Arial"/>
                <a:ea typeface="Arial"/>
                <a:cs typeface="Arial"/>
                <a:sym typeface="Arial"/>
              </a:rPr>
              <a:t>Our initial domain focused on students finding low-stakes networking opportunities through mutual hobbies and shared passions. But as we dug deeper into ideation, our direction started to pivot. We took inspiration from public art installations like the Portals those live video feeds connecting people in different cities across the globe. What really stood out to us was how those installations spark connection without needing any prior common interest. Just being there, in that specific moment, was a good enough reason for people to start interacting. </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lang="en-US" sz="1100">
                <a:latin typeface="Arial"/>
                <a:ea typeface="Arial"/>
                <a:cs typeface="Arial"/>
                <a:sym typeface="Arial"/>
              </a:rPr>
              <a:t>That shift really changed how we looked at the problem. Instead of forcing connections based on similarity, we got excited about the serendipitous side of things, those unplanned, spontaneous moments that feel organic rather than curated. This led us to our final domain space: serendipitous connections on campus. We want to foster those genuine, low-pressure encounters between university strangers who might otherwise never cross paths. </a:t>
            </a:r>
            <a:endParaRPr sz="1100">
              <a:latin typeface="Arial"/>
              <a:ea typeface="Arial"/>
              <a:cs typeface="Arial"/>
              <a:sym typeface="Arial"/>
            </a:endParaRPr>
          </a:p>
          <a:p>
            <a:pPr indent="0" lvl="0" marL="0" rtl="0" algn="l">
              <a:lnSpc>
                <a:spcPct val="115000"/>
              </a:lnSpc>
              <a:spcBef>
                <a:spcPts val="0"/>
              </a:spcBef>
              <a:spcAft>
                <a:spcPts val="0"/>
              </a:spcAft>
              <a:buSzPts val="1100"/>
              <a:buNone/>
            </a:pPr>
            <a:br>
              <a:rPr lang="en-US" sz="1100">
                <a:latin typeface="Arial"/>
                <a:ea typeface="Arial"/>
                <a:cs typeface="Arial"/>
                <a:sym typeface="Arial"/>
              </a:rPr>
            </a:br>
            <a:r>
              <a:rPr lang="en-US" sz="1100">
                <a:highlight>
                  <a:srgbClr val="FCE5CD"/>
                </a:highlight>
                <a:latin typeface="Arial"/>
                <a:ea typeface="Arial"/>
                <a:cs typeface="Arial"/>
                <a:sym typeface="Arial"/>
              </a:rPr>
              <a:t>Building on that domain, we looked into prior attempts that have tackled a similar experience, and used what we found, alongside our own interviews, to analyse the design opportunities available.</a:t>
            </a:r>
            <a:endParaRPr sz="1100">
              <a:highlight>
                <a:srgbClr val="FCE5CD"/>
              </a:highlight>
              <a:latin typeface="Arial"/>
              <a:ea typeface="Arial"/>
              <a:cs typeface="Arial"/>
              <a:sym typeface="Arial"/>
            </a:endParaRPr>
          </a:p>
          <a:p>
            <a:pPr indent="0" lvl="0" marL="0" rtl="0" algn="l">
              <a:lnSpc>
                <a:spcPct val="115000"/>
              </a:lnSpc>
              <a:spcBef>
                <a:spcPts val="0"/>
              </a:spcBef>
              <a:spcAft>
                <a:spcPts val="0"/>
              </a:spcAft>
              <a:buSzPts val="1100"/>
              <a:buNone/>
            </a:pPr>
            <a:r>
              <a:t/>
            </a:r>
            <a:endParaRPr sz="1100">
              <a:highlight>
                <a:srgbClr val="FCE5CD"/>
              </a:highlight>
              <a:latin typeface="Arial"/>
              <a:ea typeface="Arial"/>
              <a:cs typeface="Arial"/>
              <a:sym typeface="Arial"/>
            </a:endParaRPr>
          </a:p>
          <a:p>
            <a:pPr indent="0" lvl="0" marL="0" rtl="0" algn="l">
              <a:lnSpc>
                <a:spcPct val="115000"/>
              </a:lnSpc>
              <a:spcBef>
                <a:spcPts val="0"/>
              </a:spcBef>
              <a:spcAft>
                <a:spcPts val="0"/>
              </a:spcAft>
              <a:buSzPts val="1100"/>
              <a:buNone/>
            </a:pPr>
            <a:r>
              <a:rPr lang="en-US" sz="1100">
                <a:highlight>
                  <a:srgbClr val="FCE5CD"/>
                </a:highlight>
                <a:latin typeface="Arial"/>
                <a:ea typeface="Arial"/>
                <a:cs typeface="Arial"/>
                <a:sym typeface="Arial"/>
              </a:rPr>
              <a:t>One prior attempt we looked at is Sketching with Strangers. Researchers built two interactive tables and installed them in two separate venues that shared a similar demographic and social energy to a university campus, with young adults, socially open, comfortable engaging with novelty in a shared public space. The tables let people at each location communicate with each other through shared drawings and symbols. This shows that our chosen domain is a genuine space, where people are actually wanting to connect with complete strangers they’d usually never interact with. However, this also reveals a gap, which was also noticed in our interviews. Across our interviews, a clear pattern emerged, where students genuinely want more of these spontaneous connections, but consistently feel like something's missing that stops it from happening. Several participants told us that they would need some kind of excuse or reason to start interacting with a stranger. </a:t>
            </a:r>
            <a:endParaRPr sz="1100">
              <a:highlight>
                <a:srgbClr val="FCE5CD"/>
              </a:highlight>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lang="en-US" sz="1100">
                <a:latin typeface="Arial"/>
                <a:ea typeface="Arial"/>
                <a:cs typeface="Arial"/>
                <a:sym typeface="Arial"/>
              </a:rPr>
              <a:t>Another prior attempt is Next2You, a concept mobile app that aims to spark face-to-face interaction between strangers who are regularly in close physical proximity to each other, for example, taking the same bus or eating at the same cafe. It goes through three levels of interaction, starting at ‘whispers’ which contain any information the users want to share, like attitudes or personal facts, which then progress to messaging, and then finally face-to-face interaction. The paper found that progressive disclosure lowers the social risk of directly approaching strangers, taking pressure off social interactions.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lang="en-US" sz="1100">
                <a:latin typeface="Arial"/>
                <a:ea typeface="Arial"/>
                <a:cs typeface="Arial"/>
                <a:sym typeface="Arial"/>
              </a:rPr>
              <a:t>Preliminary interviews found that students on campus do want to connect with strangers and wished they had the courage to. We also found that students had positive associations with anonymous messages left behind on campus. </a:t>
            </a:r>
            <a:r>
              <a:rPr lang="en-US" sz="1100">
                <a:highlight>
                  <a:srgbClr val="FCE5CD"/>
                </a:highlight>
                <a:latin typeface="Arial"/>
                <a:ea typeface="Arial"/>
                <a:cs typeface="Arial"/>
                <a:sym typeface="Arial"/>
              </a:rPr>
              <a:t>One participant described a window at the Priestly Building where people were writing notes and to do lists, with other people interacting and leaving responses. They found it interesting that students were keeping the thread going while staying anonymous. </a:t>
            </a:r>
            <a:endParaRPr sz="1100">
              <a:highlight>
                <a:srgbClr val="FCE5CD"/>
              </a:highlight>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highlight>
                  <a:srgbClr val="FCE5CD"/>
                </a:highlight>
                <a:latin typeface="Arial"/>
                <a:ea typeface="Arial"/>
                <a:cs typeface="Arial"/>
                <a:sym typeface="Arial"/>
              </a:rPr>
              <a:t>Together, this research pointed us toward a specific gap that our concept is aiming to fill, which is rather than leaving connection to chance or relying on unstructured channel like Sketching with Strangers did, we’re proposing a genuine and spontaneous reason for students to engage with someone they’d never otherwise cross paths with.  </a:t>
            </a:r>
            <a:endParaRPr sz="1100">
              <a:latin typeface="Arial"/>
              <a:ea typeface="Arial"/>
              <a:cs typeface="Arial"/>
              <a:sym typeface="Arial"/>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100">
                <a:latin typeface="Arial"/>
                <a:ea typeface="Arial"/>
                <a:cs typeface="Arial"/>
                <a:sym typeface="Arial"/>
              </a:rPr>
              <a:t>These are some design opportunities we’ve identified based on our primary and secondary research organised in a time-space matrix. We also employed this probe to collect data based on the concept of connecting students via a location-tied message left for the next person who sits in the same seat or table in a lecture theatre, library, or other similar places. </a:t>
            </a:r>
            <a:r>
              <a:rPr lang="en-US" sz="1100">
                <a:highlight>
                  <a:srgbClr val="FCE5CD"/>
                </a:highlight>
                <a:latin typeface="Arial"/>
                <a:ea typeface="Arial"/>
                <a:cs typeface="Arial"/>
                <a:sym typeface="Arial"/>
              </a:rPr>
              <a:t>We left a simple sheet of paper with the prompt, 'Leave a message for the next person!' on the library printer. We wanted to see whether students would actually engage with an anonymous, asynchronous prompt like this, without any instructions beyond that one line.</a:t>
            </a:r>
            <a:r>
              <a:rPr lang="en-US" sz="1100">
                <a:latin typeface="Arial"/>
                <a:ea typeface="Arial"/>
                <a:cs typeface="Arial"/>
                <a:sym typeface="Arial"/>
              </a:rPr>
              <a:t> </a:t>
            </a:r>
            <a:r>
              <a:rPr lang="en-US" sz="1100">
                <a:highlight>
                  <a:srgbClr val="FCE5CD"/>
                </a:highlight>
                <a:latin typeface="Arial"/>
                <a:ea typeface="Arial"/>
                <a:cs typeface="Arial"/>
                <a:sym typeface="Arial"/>
              </a:rPr>
              <a:t>What stood out most was that none of this needed any structure, just a low-stakes, visible invitation was enough for students to leave something behind, and for other students to notice and respond, sometimes offering support, sometimes just adding to the fun. This directly reinforces the interview finding we mentioned earlier, students don't need an elaborate mechanism to connect, they just need a visible, easy opening.</a:t>
            </a:r>
            <a:r>
              <a:rPr lang="en-US" sz="1100">
                <a:latin typeface="Arial"/>
                <a:ea typeface="Arial"/>
                <a:cs typeface="Arial"/>
                <a:sym typeface="Arial"/>
              </a:rPr>
              <a:t>These opportunities differ from the existing solutions they draw upon as they have been designed with our intended audience, on-campus university students, in mind.</a:t>
            </a:r>
            <a:endParaRPr sz="1100">
              <a:highlight>
                <a:srgbClr val="FFF2CC"/>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intended audience is university students in Brisbane, 18 plus, who are on campus and interacting face to face.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What really drives them, based on our research, is curiosity and spontaneity. They like novelty, they like unplanned moments that break up the day. But it has to feel low stakes, playful, and not like a performance. Research shows that privacy matters a lot too, they want to control how much of themselves they reveal and how fast. What they're really after is belonging without commitment.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Day to day, they're juggling lectures and study with little pockets of downtime in between, and most are used to picking up new social tools pretty fast. Their priority would be making genuine, low pressure connections without it eating into time they don't have.</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Our concept tries to bridge the gap between turning those in between campus moments into real, serendipitous encounters.</a:t>
            </a:r>
            <a:endParaRPr sz="1100">
              <a:latin typeface="Arial"/>
              <a:ea typeface="Arial"/>
              <a:cs typeface="Arial"/>
              <a:sym typeface="Arial"/>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 we continue to narrow between our design opportunities, we plan to validate using a mix of primary and secondary research.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Firstly, we will use semi-structured interviews with students to understand why they do or don't feel connected on campus, uncover the current landscape of making friends and to test reactions to the early concepts of our phone idea. Secondly, we plan to use more probes such as message walls around campus to understand student’s emotional needs and motivations for spontaneous interactions. Thirdly, we will run observations at a few candidate locations such as the Great Court, the </a:t>
            </a:r>
            <a:r>
              <a:rPr lang="en-US" sz="1100">
                <a:latin typeface="Arial"/>
                <a:ea typeface="Arial"/>
                <a:cs typeface="Arial"/>
                <a:sym typeface="Arial"/>
              </a:rPr>
              <a:t>Amphitheatre</a:t>
            </a:r>
            <a:r>
              <a:rPr lang="en-US" sz="1100">
                <a:latin typeface="Arial"/>
                <a:ea typeface="Arial"/>
                <a:cs typeface="Arial"/>
                <a:sym typeface="Arial"/>
              </a:rPr>
              <a:t> or the Union to see where students pause, interact, linger and make contact, which can tell us where a trigger could work.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secondary research side we will continue to explore solutions through digital ethnography of reddit, UQ Stalkerspace/UQ love letters or any social media to discover any universal sentiment around wanting to find more serendipity on campus, explore any past installations or social experiments on campuses around the world to further improve our ideas.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Later, we plan to design our solution through design techniques such as affinity mapping, storyboarding, user and journey flows and low-to-high fidelity screens to build towards our final prototype. Thank you.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A"/>
        </a:solidFill>
      </p:bgPr>
    </p:bg>
    <p:spTree>
      <p:nvGrpSpPr>
        <p:cNvPr id="15" name="Shape 15"/>
        <p:cNvGrpSpPr/>
        <p:nvPr/>
      </p:nvGrpSpPr>
      <p:grpSpPr>
        <a:xfrm>
          <a:off x="0" y="0"/>
          <a:ext cx="0" cy="0"/>
          <a:chOff x="0" y="0"/>
          <a:chExt cx="0" cy="0"/>
        </a:xfrm>
      </p:grpSpPr>
      <p:sp>
        <p:nvSpPr>
          <p:cNvPr id="16" name="Google Shape;16;p3"/>
          <p:cNvSpPr/>
          <p:nvPr/>
        </p:nvSpPr>
        <p:spPr>
          <a:xfrm>
            <a:off x="13716000" y="-1143000"/>
            <a:ext cx="5905500" cy="5905500"/>
          </a:xfrm>
          <a:prstGeom prst="ellipse">
            <a:avLst/>
          </a:prstGeom>
          <a:solidFill>
            <a:srgbClr val="CDB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2573000" y="8096250"/>
            <a:ext cx="4000500" cy="4000500"/>
          </a:xfrm>
          <a:prstGeom prst="ellipse">
            <a:avLst/>
          </a:prstGeom>
          <a:solidFill>
            <a:srgbClr val="A9DC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1525250" y="4000500"/>
            <a:ext cx="1809750" cy="1809750"/>
          </a:xfrm>
          <a:prstGeom prst="ellipse">
            <a:avLst/>
          </a:prstGeom>
          <a:solidFill>
            <a:srgbClr val="FFE1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047750" y="3585790"/>
            <a:ext cx="11001375" cy="451470"/>
          </a:xfrm>
          <a:prstGeom prst="rect">
            <a:avLst/>
          </a:prstGeom>
          <a:noFill/>
          <a:ln>
            <a:noFill/>
          </a:ln>
        </p:spPr>
        <p:txBody>
          <a:bodyPr anchorCtr="0" anchor="t" bIns="25400" lIns="25400" spcFirstLastPara="1" rIns="25400" wrap="square" tIns="25400">
            <a:noAutofit/>
          </a:bodyPr>
          <a:lstStyle/>
          <a:p>
            <a:pPr indent="0" lvl="0" marL="0" marR="0" rtl="0" algn="l">
              <a:lnSpc>
                <a:spcPct val="129552"/>
              </a:lnSpc>
              <a:spcBef>
                <a:spcPts val="0"/>
              </a:spcBef>
              <a:spcAft>
                <a:spcPts val="0"/>
              </a:spcAft>
              <a:buClr>
                <a:srgbClr val="7A5AC2"/>
              </a:buClr>
              <a:buSzPts val="2100"/>
              <a:buFont typeface="Figtree"/>
              <a:buNone/>
            </a:pPr>
            <a:r>
              <a:rPr b="1" i="0" lang="en-US" sz="2100" u="none" cap="none" strike="noStrike">
                <a:solidFill>
                  <a:srgbClr val="7A5AC2"/>
                </a:solidFill>
                <a:latin typeface="Figtree"/>
                <a:ea typeface="Figtree"/>
                <a:cs typeface="Figtree"/>
                <a:sym typeface="Figtree"/>
              </a:rPr>
              <a:t>DECO3500 DESIGN PROPOSAL</a:t>
            </a:r>
            <a:endParaRPr b="0" i="0" sz="2100" u="none" cap="none" strike="noStrike">
              <a:solidFill>
                <a:schemeClr val="dk1"/>
              </a:solidFill>
              <a:latin typeface="Calibri"/>
              <a:ea typeface="Calibri"/>
              <a:cs typeface="Calibri"/>
              <a:sym typeface="Calibri"/>
            </a:endParaRPr>
          </a:p>
        </p:txBody>
      </p:sp>
      <p:sp>
        <p:nvSpPr>
          <p:cNvPr id="20" name="Google Shape;20;p3"/>
          <p:cNvSpPr/>
          <p:nvPr/>
        </p:nvSpPr>
        <p:spPr>
          <a:xfrm>
            <a:off x="1047750" y="4227761"/>
            <a:ext cx="11001375" cy="1048494"/>
          </a:xfrm>
          <a:prstGeom prst="rect">
            <a:avLst/>
          </a:prstGeom>
          <a:noFill/>
          <a:ln>
            <a:noFill/>
          </a:ln>
        </p:spPr>
        <p:txBody>
          <a:bodyPr anchorCtr="0" anchor="t" bIns="25400" lIns="25400" spcFirstLastPara="1" rIns="25400" wrap="square" tIns="25400">
            <a:noAutofit/>
          </a:bodyPr>
          <a:lstStyle/>
          <a:p>
            <a:pPr indent="0" lvl="0" marL="0" marR="0" rtl="0" algn="l">
              <a:lnSpc>
                <a:spcPct val="88770"/>
              </a:lnSpc>
              <a:spcBef>
                <a:spcPts val="0"/>
              </a:spcBef>
              <a:spcAft>
                <a:spcPts val="0"/>
              </a:spcAft>
              <a:buClr>
                <a:srgbClr val="2E2745"/>
              </a:buClr>
              <a:buSzPts val="7800"/>
              <a:buFont typeface="Caprasimo"/>
              <a:buNone/>
            </a:pPr>
            <a:r>
              <a:rPr b="0" i="0" lang="en-US" sz="7800" u="none" cap="none" strike="noStrike">
                <a:solidFill>
                  <a:srgbClr val="2E2745"/>
                </a:solidFill>
                <a:latin typeface="Caprasimo"/>
                <a:ea typeface="Caprasimo"/>
                <a:cs typeface="Caprasimo"/>
                <a:sym typeface="Caprasimo"/>
              </a:rPr>
              <a:t>Push n Pray</a:t>
            </a:r>
            <a:endParaRPr b="0" i="0" sz="7800" u="none" cap="none" strike="noStrike">
              <a:solidFill>
                <a:schemeClr val="dk1"/>
              </a:solidFill>
              <a:latin typeface="Calibri"/>
              <a:ea typeface="Calibri"/>
              <a:cs typeface="Calibri"/>
              <a:sym typeface="Calibri"/>
            </a:endParaRPr>
          </a:p>
        </p:txBody>
      </p:sp>
      <p:sp>
        <p:nvSpPr>
          <p:cNvPr id="21" name="Google Shape;21;p3"/>
          <p:cNvSpPr/>
          <p:nvPr/>
        </p:nvSpPr>
        <p:spPr>
          <a:xfrm>
            <a:off x="1047750" y="5466755"/>
            <a:ext cx="8172450" cy="55245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E2745"/>
              </a:buClr>
              <a:buSzPts val="3000"/>
              <a:buFont typeface="Figtree"/>
              <a:buNone/>
            </a:pPr>
            <a:r>
              <a:rPr b="0" i="0" lang="en-US" sz="3000" u="none" cap="none" strike="noStrike">
                <a:solidFill>
                  <a:srgbClr val="2E2745"/>
                </a:solidFill>
                <a:latin typeface="Figtree"/>
                <a:ea typeface="Figtree"/>
                <a:cs typeface="Figtree"/>
                <a:sym typeface="Figtree"/>
              </a:rPr>
              <a:t>Serendipitous connections on campus</a:t>
            </a:r>
            <a:endParaRPr b="0" i="0" sz="3000" u="none" cap="none" strike="noStrike">
              <a:solidFill>
                <a:schemeClr val="dk1"/>
              </a:solidFill>
              <a:latin typeface="Calibri"/>
              <a:ea typeface="Calibri"/>
              <a:cs typeface="Calibri"/>
              <a:sym typeface="Calibri"/>
            </a:endParaRPr>
          </a:p>
        </p:txBody>
      </p:sp>
      <p:sp>
        <p:nvSpPr>
          <p:cNvPr id="22" name="Google Shape;22;p3"/>
          <p:cNvSpPr/>
          <p:nvPr/>
        </p:nvSpPr>
        <p:spPr>
          <a:xfrm>
            <a:off x="1047750" y="6362105"/>
            <a:ext cx="11001375" cy="491430"/>
          </a:xfrm>
          <a:prstGeom prst="rect">
            <a:avLst/>
          </a:prstGeom>
          <a:noFill/>
          <a:ln>
            <a:noFill/>
          </a:ln>
        </p:spPr>
        <p:txBody>
          <a:bodyPr anchorCtr="0" anchor="t" bIns="25400" lIns="25400" spcFirstLastPara="1" rIns="25400" wrap="square" tIns="25400">
            <a:noAutofit/>
          </a:bodyPr>
          <a:lstStyle/>
          <a:p>
            <a:pPr indent="0" lvl="0" marL="0" marR="0" rtl="0" algn="l">
              <a:lnSpc>
                <a:spcPct val="116098"/>
              </a:lnSpc>
              <a:spcBef>
                <a:spcPts val="0"/>
              </a:spcBef>
              <a:spcAft>
                <a:spcPts val="0"/>
              </a:spcAft>
              <a:buClr>
                <a:srgbClr val="5C5473"/>
              </a:buClr>
              <a:buSzPts val="2550"/>
              <a:buFont typeface="Figtree"/>
              <a:buNone/>
            </a:pPr>
            <a:r>
              <a:rPr b="0" i="0" lang="en-US" sz="2550" u="none" cap="none" strike="noStrike">
                <a:solidFill>
                  <a:srgbClr val="5C5473"/>
                </a:solidFill>
                <a:latin typeface="Figtree"/>
                <a:ea typeface="Figtree"/>
                <a:cs typeface="Figtree"/>
                <a:sym typeface="Figtree"/>
              </a:rPr>
              <a:t>Ruby, Reyana, Bianca, Emily, Ellie</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3"/>
        </a:solidFill>
      </p:bgPr>
    </p:bg>
    <p:spTree>
      <p:nvGrpSpPr>
        <p:cNvPr id="27" name="Shape 27"/>
        <p:cNvGrpSpPr/>
        <p:nvPr/>
      </p:nvGrpSpPr>
      <p:grpSpPr>
        <a:xfrm>
          <a:off x="0" y="0"/>
          <a:ext cx="0" cy="0"/>
          <a:chOff x="0" y="0"/>
          <a:chExt cx="0" cy="0"/>
        </a:xfrm>
      </p:grpSpPr>
      <p:sp>
        <p:nvSpPr>
          <p:cNvPr id="28" name="Google Shape;28;p4"/>
          <p:cNvSpPr/>
          <p:nvPr/>
        </p:nvSpPr>
        <p:spPr>
          <a:xfrm>
            <a:off x="-1524000" y="7620000"/>
            <a:ext cx="4572000" cy="4572000"/>
          </a:xfrm>
          <a:prstGeom prst="ellipse">
            <a:avLst/>
          </a:prstGeom>
          <a:solidFill>
            <a:srgbClr val="AECFF2">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047750" y="914400"/>
            <a:ext cx="17811750" cy="696441"/>
          </a:xfrm>
          <a:prstGeom prst="rect">
            <a:avLst/>
          </a:prstGeom>
          <a:noFill/>
          <a:ln>
            <a:noFill/>
          </a:ln>
        </p:spPr>
        <p:txBody>
          <a:bodyPr anchorCtr="0" anchor="t" bIns="25400" lIns="25400" spcFirstLastPara="1" rIns="25400" wrap="square" tIns="25400">
            <a:noAutofit/>
          </a:bodyPr>
          <a:lstStyle/>
          <a:p>
            <a:pPr indent="0" lvl="0" marL="0" marR="0" rtl="0" algn="l">
              <a:lnSpc>
                <a:spcPct val="94041"/>
              </a:lnSpc>
              <a:spcBef>
                <a:spcPts val="0"/>
              </a:spcBef>
              <a:spcAft>
                <a:spcPts val="0"/>
              </a:spcAft>
              <a:buClr>
                <a:srgbClr val="2E2745"/>
              </a:buClr>
              <a:buSzPts val="4800"/>
              <a:buFont typeface="Caprasimo"/>
              <a:buNone/>
            </a:pPr>
            <a:r>
              <a:rPr b="0" i="0" lang="en-US" sz="4800" u="none" cap="none" strike="noStrike">
                <a:solidFill>
                  <a:srgbClr val="2E2745"/>
                </a:solidFill>
                <a:latin typeface="Caprasimo"/>
                <a:ea typeface="Caprasimo"/>
                <a:cs typeface="Caprasimo"/>
                <a:sym typeface="Caprasimo"/>
              </a:rPr>
              <a:t>Team intro and strengths</a:t>
            </a:r>
            <a:endParaRPr b="0" i="0" sz="4800" u="none" cap="none" strike="noStrike">
              <a:solidFill>
                <a:schemeClr val="dk1"/>
              </a:solidFill>
              <a:latin typeface="Calibri"/>
              <a:ea typeface="Calibri"/>
              <a:cs typeface="Calibri"/>
              <a:sym typeface="Calibri"/>
            </a:endParaRPr>
          </a:p>
        </p:txBody>
      </p:sp>
      <p:sp>
        <p:nvSpPr>
          <p:cNvPr id="30" name="Google Shape;30;p4"/>
          <p:cNvSpPr/>
          <p:nvPr/>
        </p:nvSpPr>
        <p:spPr>
          <a:xfrm>
            <a:off x="1047750" y="1991841"/>
            <a:ext cx="5194250" cy="2529780"/>
          </a:xfrm>
          <a:prstGeom prst="roundRect">
            <a:avLst>
              <a:gd fmla="val 12048" name="adj"/>
            </a:avLst>
          </a:prstGeom>
          <a:solidFill>
            <a:srgbClr val="CDB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409700" y="2372841"/>
            <a:ext cx="4604461" cy="952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E2745"/>
              </a:buClr>
              <a:buSzPts val="3000"/>
              <a:buFont typeface="Figtree"/>
              <a:buNone/>
            </a:pPr>
            <a:r>
              <a:rPr b="1" i="0" lang="en-US" sz="3000" u="none" cap="none" strike="noStrike">
                <a:solidFill>
                  <a:srgbClr val="2E2745"/>
                </a:solidFill>
                <a:latin typeface="Figtree"/>
                <a:ea typeface="Figtree"/>
                <a:cs typeface="Figtree"/>
                <a:sym typeface="Figtree"/>
              </a:rPr>
              <a:t>Leadership and team players</a:t>
            </a:r>
            <a:endParaRPr b="0" i="0" sz="3000" u="none" cap="none" strike="noStrike">
              <a:solidFill>
                <a:schemeClr val="dk1"/>
              </a:solidFill>
              <a:latin typeface="Calibri"/>
              <a:ea typeface="Calibri"/>
              <a:cs typeface="Calibri"/>
              <a:sym typeface="Calibri"/>
            </a:endParaRPr>
          </a:p>
        </p:txBody>
      </p:sp>
      <p:sp>
        <p:nvSpPr>
          <p:cNvPr id="32" name="Google Shape;32;p4"/>
          <p:cNvSpPr/>
          <p:nvPr/>
        </p:nvSpPr>
        <p:spPr>
          <a:xfrm>
            <a:off x="1409700" y="3420591"/>
            <a:ext cx="46044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2836"/>
              </a:lnSpc>
              <a:spcBef>
                <a:spcPts val="0"/>
              </a:spcBef>
              <a:spcAft>
                <a:spcPts val="0"/>
              </a:spcAft>
              <a:buClr>
                <a:srgbClr val="2E2745"/>
              </a:buClr>
              <a:buSzPts val="2100"/>
              <a:buFont typeface="Figtree"/>
              <a:buNone/>
            </a:pPr>
            <a:r>
              <a:rPr b="0" i="0" lang="en-US" sz="2100" u="none" cap="none" strike="noStrike">
                <a:solidFill>
                  <a:srgbClr val="2E2745"/>
                </a:solidFill>
                <a:latin typeface="Figtree"/>
                <a:ea typeface="Figtree"/>
                <a:cs typeface="Figtree"/>
                <a:sym typeface="Figtree"/>
              </a:rPr>
              <a:t>A mix of both, so the work gets driven and shared</a:t>
            </a:r>
            <a:endParaRPr b="0" i="0" sz="2100" u="none" cap="none" strike="noStrike">
              <a:solidFill>
                <a:schemeClr val="dk1"/>
              </a:solidFill>
              <a:latin typeface="Calibri"/>
              <a:ea typeface="Calibri"/>
              <a:cs typeface="Calibri"/>
              <a:sym typeface="Calibri"/>
            </a:endParaRPr>
          </a:p>
        </p:txBody>
      </p:sp>
      <p:sp>
        <p:nvSpPr>
          <p:cNvPr id="33" name="Google Shape;33;p4"/>
          <p:cNvSpPr/>
          <p:nvPr/>
        </p:nvSpPr>
        <p:spPr>
          <a:xfrm>
            <a:off x="6546800" y="1991841"/>
            <a:ext cx="5194325" cy="2529780"/>
          </a:xfrm>
          <a:prstGeom prst="roundRect">
            <a:avLst>
              <a:gd fmla="val 12048" name="adj"/>
            </a:avLst>
          </a:prstGeom>
          <a:solidFill>
            <a:srgbClr val="A9DC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6908750" y="2372841"/>
            <a:ext cx="4917467"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E2745"/>
              </a:buClr>
              <a:buSzPts val="3000"/>
              <a:buFont typeface="Figtree"/>
              <a:buNone/>
            </a:pPr>
            <a:r>
              <a:rPr b="1" i="0" lang="en-US" sz="3000" u="none" cap="none" strike="noStrike">
                <a:solidFill>
                  <a:srgbClr val="2E2745"/>
                </a:solidFill>
                <a:latin typeface="Figtree"/>
                <a:ea typeface="Figtree"/>
                <a:cs typeface="Figtree"/>
                <a:sym typeface="Figtree"/>
              </a:rPr>
              <a:t>Design and engineering</a:t>
            </a:r>
            <a:endParaRPr b="0" i="0" sz="3000" u="none" cap="none" strike="noStrike">
              <a:solidFill>
                <a:schemeClr val="dk1"/>
              </a:solidFill>
              <a:latin typeface="Calibri"/>
              <a:ea typeface="Calibri"/>
              <a:cs typeface="Calibri"/>
              <a:sym typeface="Calibri"/>
            </a:endParaRPr>
          </a:p>
        </p:txBody>
      </p:sp>
      <p:sp>
        <p:nvSpPr>
          <p:cNvPr id="35" name="Google Shape;35;p4"/>
          <p:cNvSpPr/>
          <p:nvPr/>
        </p:nvSpPr>
        <p:spPr>
          <a:xfrm>
            <a:off x="6908750" y="2963391"/>
            <a:ext cx="4604538" cy="758130"/>
          </a:xfrm>
          <a:prstGeom prst="rect">
            <a:avLst/>
          </a:prstGeom>
          <a:noFill/>
          <a:ln>
            <a:noFill/>
          </a:ln>
        </p:spPr>
        <p:txBody>
          <a:bodyPr anchorCtr="0" anchor="t" bIns="25400" lIns="25400" spcFirstLastPara="1" rIns="25400" wrap="square" tIns="25400">
            <a:noAutofit/>
          </a:bodyPr>
          <a:lstStyle/>
          <a:p>
            <a:pPr indent="0" lvl="0" marL="0" marR="0" rtl="0" algn="l">
              <a:lnSpc>
                <a:spcPct val="112836"/>
              </a:lnSpc>
              <a:spcBef>
                <a:spcPts val="0"/>
              </a:spcBef>
              <a:spcAft>
                <a:spcPts val="0"/>
              </a:spcAft>
              <a:buClr>
                <a:srgbClr val="2E2745"/>
              </a:buClr>
              <a:buSzPts val="2100"/>
              <a:buFont typeface="Figtree"/>
              <a:buNone/>
            </a:pPr>
            <a:r>
              <a:rPr b="0" i="0" lang="en-US" sz="2100" u="none" cap="none" strike="noStrike">
                <a:solidFill>
                  <a:srgbClr val="2E2745"/>
                </a:solidFill>
                <a:latin typeface="Figtree"/>
                <a:ea typeface="Figtree"/>
                <a:cs typeface="Figtree"/>
                <a:sym typeface="Figtree"/>
              </a:rPr>
              <a:t>Creative design skills alongside implementation skills</a:t>
            </a:r>
            <a:endParaRPr b="0" i="0" sz="2100" u="none" cap="none" strike="noStrike">
              <a:solidFill>
                <a:schemeClr val="dk1"/>
              </a:solidFill>
              <a:latin typeface="Calibri"/>
              <a:ea typeface="Calibri"/>
              <a:cs typeface="Calibri"/>
              <a:sym typeface="Calibri"/>
            </a:endParaRPr>
          </a:p>
        </p:txBody>
      </p:sp>
      <p:sp>
        <p:nvSpPr>
          <p:cNvPr id="36" name="Google Shape;36;p4"/>
          <p:cNvSpPr/>
          <p:nvPr/>
        </p:nvSpPr>
        <p:spPr>
          <a:xfrm>
            <a:off x="12045925" y="1991841"/>
            <a:ext cx="5194250" cy="2529780"/>
          </a:xfrm>
          <a:prstGeom prst="roundRect">
            <a:avLst>
              <a:gd fmla="val 12048" name="adj"/>
            </a:avLst>
          </a:prstGeom>
          <a:solidFill>
            <a:srgbClr val="FFC7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12407875" y="2372841"/>
            <a:ext cx="4917385"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E2745"/>
              </a:buClr>
              <a:buSzPts val="3000"/>
              <a:buFont typeface="Figtree"/>
              <a:buNone/>
            </a:pPr>
            <a:r>
              <a:rPr b="1" i="0" lang="en-US" sz="3000" u="none" cap="none" strike="noStrike">
                <a:solidFill>
                  <a:srgbClr val="2E2745"/>
                </a:solidFill>
                <a:latin typeface="Figtree"/>
                <a:ea typeface="Figtree"/>
                <a:cs typeface="Figtree"/>
                <a:sym typeface="Figtree"/>
              </a:rPr>
              <a:t>Tool exposure</a:t>
            </a:r>
            <a:endParaRPr b="0" i="0" sz="3000" u="none" cap="none" strike="noStrike">
              <a:solidFill>
                <a:schemeClr val="dk1"/>
              </a:solidFill>
              <a:latin typeface="Calibri"/>
              <a:ea typeface="Calibri"/>
              <a:cs typeface="Calibri"/>
              <a:sym typeface="Calibri"/>
            </a:endParaRPr>
          </a:p>
        </p:txBody>
      </p:sp>
      <p:sp>
        <p:nvSpPr>
          <p:cNvPr id="38" name="Google Shape;38;p4"/>
          <p:cNvSpPr/>
          <p:nvPr/>
        </p:nvSpPr>
        <p:spPr>
          <a:xfrm>
            <a:off x="12407875" y="2963391"/>
            <a:ext cx="46044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2836"/>
              </a:lnSpc>
              <a:spcBef>
                <a:spcPts val="0"/>
              </a:spcBef>
              <a:spcAft>
                <a:spcPts val="0"/>
              </a:spcAft>
              <a:buClr>
                <a:srgbClr val="2E2745"/>
              </a:buClr>
              <a:buSzPts val="2100"/>
              <a:buFont typeface="Figtree"/>
              <a:buNone/>
            </a:pPr>
            <a:r>
              <a:rPr b="0" i="0" lang="en-US" sz="2100" u="none" cap="none" strike="noStrike">
                <a:solidFill>
                  <a:srgbClr val="2E2745"/>
                </a:solidFill>
                <a:latin typeface="Figtree"/>
                <a:ea typeface="Figtree"/>
                <a:cs typeface="Figtree"/>
                <a:sym typeface="Figtree"/>
              </a:rPr>
              <a:t>Figma and Canva for design, GitHub and React for build</a:t>
            </a:r>
            <a:endParaRPr b="0" i="0" sz="2100" u="none" cap="none" strike="noStrike">
              <a:solidFill>
                <a:schemeClr val="dk1"/>
              </a:solidFill>
              <a:latin typeface="Calibri"/>
              <a:ea typeface="Calibri"/>
              <a:cs typeface="Calibri"/>
              <a:sym typeface="Calibri"/>
            </a:endParaRPr>
          </a:p>
        </p:txBody>
      </p:sp>
      <p:sp>
        <p:nvSpPr>
          <p:cNvPr id="39" name="Google Shape;39;p4"/>
          <p:cNvSpPr/>
          <p:nvPr/>
        </p:nvSpPr>
        <p:spPr>
          <a:xfrm>
            <a:off x="1047750" y="4826422"/>
            <a:ext cx="5194250" cy="2529780"/>
          </a:xfrm>
          <a:prstGeom prst="roundRect">
            <a:avLst>
              <a:gd fmla="val 12048" name="adj"/>
            </a:avLst>
          </a:prstGeom>
          <a:solidFill>
            <a:srgbClr val="AEC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409700" y="5207422"/>
            <a:ext cx="4917385"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E2745"/>
              </a:buClr>
              <a:buSzPts val="3000"/>
              <a:buFont typeface="Figtree"/>
              <a:buNone/>
            </a:pPr>
            <a:r>
              <a:rPr b="1" i="0" lang="en-US" sz="3000" u="none" cap="none" strike="noStrike">
                <a:solidFill>
                  <a:srgbClr val="2E2745"/>
                </a:solidFill>
                <a:latin typeface="Figtree"/>
                <a:ea typeface="Figtree"/>
                <a:cs typeface="Figtree"/>
                <a:sym typeface="Figtree"/>
              </a:rPr>
              <a:t>HCI fundamentals</a:t>
            </a:r>
            <a:endParaRPr b="0" i="0" sz="3000" u="none" cap="none" strike="noStrike">
              <a:solidFill>
                <a:schemeClr val="dk1"/>
              </a:solidFill>
              <a:latin typeface="Calibri"/>
              <a:ea typeface="Calibri"/>
              <a:cs typeface="Calibri"/>
              <a:sym typeface="Calibri"/>
            </a:endParaRPr>
          </a:p>
        </p:txBody>
      </p:sp>
      <p:sp>
        <p:nvSpPr>
          <p:cNvPr id="41" name="Google Shape;41;p4"/>
          <p:cNvSpPr/>
          <p:nvPr/>
        </p:nvSpPr>
        <p:spPr>
          <a:xfrm>
            <a:off x="1409700" y="5797972"/>
            <a:ext cx="46044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2836"/>
              </a:lnSpc>
              <a:spcBef>
                <a:spcPts val="0"/>
              </a:spcBef>
              <a:spcAft>
                <a:spcPts val="0"/>
              </a:spcAft>
              <a:buClr>
                <a:srgbClr val="2E2745"/>
              </a:buClr>
              <a:buSzPts val="2100"/>
              <a:buFont typeface="Figtree"/>
              <a:buNone/>
            </a:pPr>
            <a:r>
              <a:rPr b="0" i="0" lang="en-US" sz="2100" u="none" cap="none" strike="noStrike">
                <a:solidFill>
                  <a:srgbClr val="2E2745"/>
                </a:solidFill>
                <a:latin typeface="Figtree"/>
                <a:ea typeface="Figtree"/>
                <a:cs typeface="Figtree"/>
                <a:sym typeface="Figtree"/>
              </a:rPr>
              <a:t>All of us understand the concepts this project needs</a:t>
            </a:r>
            <a:endParaRPr b="0" i="0" sz="2100" u="none" cap="none" strike="noStrike">
              <a:solidFill>
                <a:schemeClr val="dk1"/>
              </a:solidFill>
              <a:latin typeface="Calibri"/>
              <a:ea typeface="Calibri"/>
              <a:cs typeface="Calibri"/>
              <a:sym typeface="Calibri"/>
            </a:endParaRPr>
          </a:p>
        </p:txBody>
      </p:sp>
      <p:sp>
        <p:nvSpPr>
          <p:cNvPr id="42" name="Google Shape;42;p4"/>
          <p:cNvSpPr/>
          <p:nvPr/>
        </p:nvSpPr>
        <p:spPr>
          <a:xfrm>
            <a:off x="6546800" y="4826422"/>
            <a:ext cx="5194325" cy="2529780"/>
          </a:xfrm>
          <a:prstGeom prst="roundRect">
            <a:avLst>
              <a:gd fmla="val 12048" name="adj"/>
            </a:avLst>
          </a:prstGeom>
          <a:solidFill>
            <a:srgbClr val="FFE1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908750" y="5207422"/>
            <a:ext cx="4917467"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E2745"/>
              </a:buClr>
              <a:buSzPts val="3000"/>
              <a:buFont typeface="Figtree"/>
              <a:buNone/>
            </a:pPr>
            <a:r>
              <a:rPr b="1" i="0" lang="en-US" sz="3000" u="none" cap="none" strike="noStrike">
                <a:solidFill>
                  <a:srgbClr val="2E2745"/>
                </a:solidFill>
                <a:latin typeface="Figtree"/>
                <a:ea typeface="Figtree"/>
                <a:cs typeface="Figtree"/>
                <a:sym typeface="Figtree"/>
              </a:rPr>
              <a:t>Access to our audience</a:t>
            </a:r>
            <a:endParaRPr b="0" i="0" sz="3000" u="none" cap="none" strike="noStrike">
              <a:solidFill>
                <a:schemeClr val="dk1"/>
              </a:solidFill>
              <a:latin typeface="Calibri"/>
              <a:ea typeface="Calibri"/>
              <a:cs typeface="Calibri"/>
              <a:sym typeface="Calibri"/>
            </a:endParaRPr>
          </a:p>
        </p:txBody>
      </p:sp>
      <p:sp>
        <p:nvSpPr>
          <p:cNvPr id="44" name="Google Shape;44;p4"/>
          <p:cNvSpPr/>
          <p:nvPr/>
        </p:nvSpPr>
        <p:spPr>
          <a:xfrm>
            <a:off x="6908750" y="5797972"/>
            <a:ext cx="4604538" cy="758130"/>
          </a:xfrm>
          <a:prstGeom prst="rect">
            <a:avLst/>
          </a:prstGeom>
          <a:noFill/>
          <a:ln>
            <a:noFill/>
          </a:ln>
        </p:spPr>
        <p:txBody>
          <a:bodyPr anchorCtr="0" anchor="t" bIns="25400" lIns="25400" spcFirstLastPara="1" rIns="25400" wrap="square" tIns="25400">
            <a:noAutofit/>
          </a:bodyPr>
          <a:lstStyle/>
          <a:p>
            <a:pPr indent="0" lvl="0" marL="0" marR="0" rtl="0" algn="l">
              <a:lnSpc>
                <a:spcPct val="112836"/>
              </a:lnSpc>
              <a:spcBef>
                <a:spcPts val="0"/>
              </a:spcBef>
              <a:spcAft>
                <a:spcPts val="0"/>
              </a:spcAft>
              <a:buClr>
                <a:srgbClr val="2E2745"/>
              </a:buClr>
              <a:buSzPts val="2100"/>
              <a:buFont typeface="Figtree"/>
              <a:buNone/>
            </a:pPr>
            <a:r>
              <a:rPr b="0" i="0" lang="en-US" sz="2100" u="none" cap="none" strike="noStrike">
                <a:solidFill>
                  <a:srgbClr val="2E2745"/>
                </a:solidFill>
                <a:latin typeface="Figtree"/>
                <a:ea typeface="Figtree"/>
                <a:cs typeface="Figtree"/>
                <a:sym typeface="Figtree"/>
              </a:rPr>
              <a:t>We are on campus with the UQ students we are designing for</a:t>
            </a:r>
            <a:endParaRPr b="0" i="0" sz="2100" u="none" cap="none" strike="noStrike">
              <a:solidFill>
                <a:schemeClr val="dk1"/>
              </a:solidFill>
              <a:latin typeface="Calibri"/>
              <a:ea typeface="Calibri"/>
              <a:cs typeface="Calibri"/>
              <a:sym typeface="Calibri"/>
            </a:endParaRPr>
          </a:p>
        </p:txBody>
      </p:sp>
      <p:sp>
        <p:nvSpPr>
          <p:cNvPr id="45" name="Google Shape;45;p4"/>
          <p:cNvSpPr/>
          <p:nvPr/>
        </p:nvSpPr>
        <p:spPr>
          <a:xfrm>
            <a:off x="12045925" y="4826422"/>
            <a:ext cx="5194250" cy="2529780"/>
          </a:xfrm>
          <a:prstGeom prst="roundRect">
            <a:avLst>
              <a:gd fmla="val 12048" name="adj"/>
            </a:avLst>
          </a:prstGeom>
          <a:solidFill>
            <a:srgbClr val="F7B7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12407875" y="5207422"/>
            <a:ext cx="4604461" cy="952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E2745"/>
              </a:buClr>
              <a:buSzPts val="3000"/>
              <a:buFont typeface="Figtree"/>
              <a:buNone/>
            </a:pPr>
            <a:r>
              <a:rPr b="1" i="0" lang="en-US" sz="3000" u="none" cap="none" strike="noStrike">
                <a:solidFill>
                  <a:srgbClr val="2E2745"/>
                </a:solidFill>
                <a:latin typeface="Figtree"/>
                <a:ea typeface="Figtree"/>
                <a:cs typeface="Figtree"/>
                <a:sym typeface="Figtree"/>
              </a:rPr>
              <a:t>Organisation and documentation</a:t>
            </a:r>
            <a:endParaRPr b="0" i="0" sz="3000" u="none" cap="none" strike="noStrike">
              <a:solidFill>
                <a:schemeClr val="dk1"/>
              </a:solidFill>
              <a:latin typeface="Calibri"/>
              <a:ea typeface="Calibri"/>
              <a:cs typeface="Calibri"/>
              <a:sym typeface="Calibri"/>
            </a:endParaRPr>
          </a:p>
        </p:txBody>
      </p:sp>
      <p:sp>
        <p:nvSpPr>
          <p:cNvPr id="47" name="Google Shape;47;p4"/>
          <p:cNvSpPr/>
          <p:nvPr/>
        </p:nvSpPr>
        <p:spPr>
          <a:xfrm>
            <a:off x="12407875" y="6255172"/>
            <a:ext cx="46044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2836"/>
              </a:lnSpc>
              <a:spcBef>
                <a:spcPts val="0"/>
              </a:spcBef>
              <a:spcAft>
                <a:spcPts val="0"/>
              </a:spcAft>
              <a:buClr>
                <a:srgbClr val="2E2745"/>
              </a:buClr>
              <a:buSzPts val="2100"/>
              <a:buFont typeface="Figtree"/>
              <a:buNone/>
            </a:pPr>
            <a:r>
              <a:rPr b="0" i="0" lang="en-US" sz="2100" u="none" cap="none" strike="noStrike">
                <a:solidFill>
                  <a:srgbClr val="2E2745"/>
                </a:solidFill>
                <a:latin typeface="Figtree"/>
                <a:ea typeface="Figtree"/>
                <a:cs typeface="Figtree"/>
                <a:sym typeface="Figtree"/>
              </a:rPr>
              <a:t>Minutes, agendas and studio notes shared, plus bi-weekly meetings</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A"/>
        </a:solidFill>
      </p:bgPr>
    </p:bg>
    <p:spTree>
      <p:nvGrpSpPr>
        <p:cNvPr id="52" name="Shape 52"/>
        <p:cNvGrpSpPr/>
        <p:nvPr/>
      </p:nvGrpSpPr>
      <p:grpSpPr>
        <a:xfrm>
          <a:off x="0" y="0"/>
          <a:ext cx="0" cy="0"/>
          <a:chOff x="0" y="0"/>
          <a:chExt cx="0" cy="0"/>
        </a:xfrm>
      </p:grpSpPr>
      <p:sp>
        <p:nvSpPr>
          <p:cNvPr id="53" name="Google Shape;53;p5"/>
          <p:cNvSpPr/>
          <p:nvPr/>
        </p:nvSpPr>
        <p:spPr>
          <a:xfrm>
            <a:off x="1047750" y="914400"/>
            <a:ext cx="12573000" cy="696441"/>
          </a:xfrm>
          <a:prstGeom prst="rect">
            <a:avLst/>
          </a:prstGeom>
          <a:noFill/>
          <a:ln>
            <a:noFill/>
          </a:ln>
        </p:spPr>
        <p:txBody>
          <a:bodyPr anchorCtr="0" anchor="t" bIns="25400" lIns="25400" spcFirstLastPara="1" rIns="25400" wrap="square" tIns="25400">
            <a:noAutofit/>
          </a:bodyPr>
          <a:lstStyle/>
          <a:p>
            <a:pPr indent="0" lvl="0" marL="0" marR="0" rtl="0" algn="l">
              <a:lnSpc>
                <a:spcPct val="94041"/>
              </a:lnSpc>
              <a:spcBef>
                <a:spcPts val="0"/>
              </a:spcBef>
              <a:spcAft>
                <a:spcPts val="0"/>
              </a:spcAft>
              <a:buClr>
                <a:srgbClr val="2E2745"/>
              </a:buClr>
              <a:buSzPts val="4800"/>
              <a:buFont typeface="Caprasimo"/>
              <a:buNone/>
            </a:pPr>
            <a:r>
              <a:rPr b="0" i="0" lang="en-US" sz="4800" u="none" cap="none" strike="noStrike">
                <a:solidFill>
                  <a:srgbClr val="2E2745"/>
                </a:solidFill>
                <a:latin typeface="Caprasimo"/>
                <a:ea typeface="Caprasimo"/>
                <a:cs typeface="Caprasimo"/>
                <a:sym typeface="Caprasimo"/>
              </a:rPr>
              <a:t>Serendipitous connections on campus</a:t>
            </a:r>
            <a:endParaRPr b="0" i="0" sz="4800" u="none" cap="none" strike="noStrike">
              <a:solidFill>
                <a:schemeClr val="dk1"/>
              </a:solidFill>
              <a:latin typeface="Calibri"/>
              <a:ea typeface="Calibri"/>
              <a:cs typeface="Calibri"/>
              <a:sym typeface="Calibri"/>
            </a:endParaRPr>
          </a:p>
        </p:txBody>
      </p:sp>
      <p:sp>
        <p:nvSpPr>
          <p:cNvPr id="54" name="Google Shape;54;p5"/>
          <p:cNvSpPr/>
          <p:nvPr/>
        </p:nvSpPr>
        <p:spPr>
          <a:xfrm>
            <a:off x="1047750" y="1991853"/>
            <a:ext cx="7905900" cy="7874400"/>
          </a:xfrm>
          <a:prstGeom prst="roundRect">
            <a:avLst>
              <a:gd fmla="val 5226" name="adj"/>
            </a:avLst>
          </a:prstGeom>
          <a:solidFill>
            <a:srgbClr val="FFFBF3"/>
          </a:solidFill>
          <a:ln cap="flat" cmpd="sng" w="28575">
            <a:solidFill>
              <a:srgbClr val="CDBD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1495425" y="2439516"/>
            <a:ext cx="7711440" cy="451470"/>
          </a:xfrm>
          <a:prstGeom prst="rect">
            <a:avLst/>
          </a:prstGeom>
          <a:noFill/>
          <a:ln>
            <a:noFill/>
          </a:ln>
        </p:spPr>
        <p:txBody>
          <a:bodyPr anchorCtr="0" anchor="t" bIns="25400" lIns="25400" spcFirstLastPara="1" rIns="25400" wrap="square" tIns="25400">
            <a:noAutofit/>
          </a:bodyPr>
          <a:lstStyle/>
          <a:p>
            <a:pPr indent="0" lvl="0" marL="0" marR="0" rtl="0" algn="l">
              <a:lnSpc>
                <a:spcPct val="129552"/>
              </a:lnSpc>
              <a:spcBef>
                <a:spcPts val="0"/>
              </a:spcBef>
              <a:spcAft>
                <a:spcPts val="0"/>
              </a:spcAft>
              <a:buClr>
                <a:srgbClr val="7A5AC2"/>
              </a:buClr>
              <a:buSzPts val="2100"/>
              <a:buFont typeface="Figtree"/>
              <a:buNone/>
            </a:pPr>
            <a:r>
              <a:rPr b="1" lang="en-US" sz="2100">
                <a:solidFill>
                  <a:srgbClr val="7A5AC2"/>
                </a:solidFill>
                <a:latin typeface="Figtree"/>
                <a:ea typeface="Figtree"/>
                <a:cs typeface="Figtree"/>
                <a:sym typeface="Figtree"/>
              </a:rPr>
              <a:t>INITIAL IDEATION</a:t>
            </a:r>
            <a:endParaRPr b="0" i="0" sz="2100" u="none" cap="none" strike="noStrike">
              <a:solidFill>
                <a:schemeClr val="dk1"/>
              </a:solidFill>
              <a:latin typeface="Calibri"/>
              <a:ea typeface="Calibri"/>
              <a:cs typeface="Calibri"/>
              <a:sym typeface="Calibri"/>
            </a:endParaRPr>
          </a:p>
        </p:txBody>
      </p:sp>
      <p:sp>
        <p:nvSpPr>
          <p:cNvPr id="56" name="Google Shape;56;p5"/>
          <p:cNvSpPr/>
          <p:nvPr/>
        </p:nvSpPr>
        <p:spPr>
          <a:xfrm>
            <a:off x="1390350" y="2890973"/>
            <a:ext cx="7220700" cy="6259800"/>
          </a:xfrm>
          <a:prstGeom prst="rect">
            <a:avLst/>
          </a:prstGeom>
          <a:noFill/>
          <a:ln>
            <a:noFill/>
          </a:ln>
        </p:spPr>
        <p:txBody>
          <a:bodyPr anchorCtr="0" anchor="t" bIns="25400" lIns="25400" spcFirstLastPara="1" rIns="25400" wrap="square" tIns="25400">
            <a:noAutofit/>
          </a:bodyPr>
          <a:lstStyle/>
          <a:p>
            <a:pPr indent="0" lvl="0" marL="0" rtl="0" algn="l">
              <a:lnSpc>
                <a:spcPct val="116098"/>
              </a:lnSpc>
              <a:spcBef>
                <a:spcPts val="0"/>
              </a:spcBef>
              <a:spcAft>
                <a:spcPts val="0"/>
              </a:spcAft>
              <a:buClr>
                <a:schemeClr val="dk1"/>
              </a:buClr>
              <a:buSzPts val="1100"/>
              <a:buFont typeface="Arial"/>
              <a:buNone/>
            </a:pPr>
            <a:r>
              <a:rPr b="1" lang="en-US" sz="2550">
                <a:solidFill>
                  <a:schemeClr val="dk1"/>
                </a:solidFill>
                <a:latin typeface="Figtree"/>
                <a:ea typeface="Figtree"/>
                <a:cs typeface="Figtree"/>
                <a:sym typeface="Figtree"/>
              </a:rPr>
              <a:t>Started with:</a:t>
            </a:r>
            <a:r>
              <a:rPr lang="en-US" sz="2550">
                <a:solidFill>
                  <a:schemeClr val="dk1"/>
                </a:solidFill>
                <a:latin typeface="Figtree Light"/>
                <a:ea typeface="Figtree Light"/>
                <a:cs typeface="Figtree Light"/>
                <a:sym typeface="Figtree Light"/>
              </a:rPr>
              <a:t> low-stakes networking through shared interests</a:t>
            </a:r>
            <a:endParaRPr sz="2550">
              <a:solidFill>
                <a:schemeClr val="dk1"/>
              </a:solidFill>
              <a:latin typeface="Figtree Light"/>
              <a:ea typeface="Figtree Light"/>
              <a:cs typeface="Figtree Light"/>
              <a:sym typeface="Figtree Light"/>
            </a:endParaRPr>
          </a:p>
          <a:p>
            <a:pPr indent="0" lvl="0" marL="0" rtl="0" algn="l">
              <a:lnSpc>
                <a:spcPct val="116098"/>
              </a:lnSpc>
              <a:spcBef>
                <a:spcPts val="0"/>
              </a:spcBef>
              <a:spcAft>
                <a:spcPts val="0"/>
              </a:spcAft>
              <a:buClr>
                <a:schemeClr val="dk1"/>
              </a:buClr>
              <a:buSzPts val="1100"/>
              <a:buFont typeface="Arial"/>
              <a:buNone/>
            </a:pPr>
            <a:r>
              <a:rPr b="1" lang="en-US" sz="2550">
                <a:solidFill>
                  <a:schemeClr val="dk1"/>
                </a:solidFill>
                <a:latin typeface="Figtree"/>
                <a:ea typeface="Figtree"/>
                <a:cs typeface="Figtree"/>
                <a:sym typeface="Figtree"/>
              </a:rPr>
              <a:t>Inspired by: </a:t>
            </a:r>
            <a:r>
              <a:rPr lang="en-US" sz="2550">
                <a:solidFill>
                  <a:schemeClr val="dk1"/>
                </a:solidFill>
                <a:latin typeface="Figtree Light"/>
                <a:ea typeface="Figtree Light"/>
                <a:cs typeface="Figtree Light"/>
                <a:sym typeface="Figtree Light"/>
              </a:rPr>
              <a:t>public art installations that spark novel interactions between strangers, e.g. the Portal project (live video links connecting people across cities)</a:t>
            </a:r>
            <a:endParaRPr sz="2550">
              <a:solidFill>
                <a:schemeClr val="dk1"/>
              </a:solidFill>
              <a:latin typeface="Figtree Light"/>
              <a:ea typeface="Figtree Light"/>
              <a:cs typeface="Figtree Light"/>
              <a:sym typeface="Figtree Light"/>
            </a:endParaRPr>
          </a:p>
          <a:p>
            <a:pPr indent="0" lvl="0" marL="0" rtl="0" algn="l">
              <a:lnSpc>
                <a:spcPct val="116098"/>
              </a:lnSpc>
              <a:spcBef>
                <a:spcPts val="0"/>
              </a:spcBef>
              <a:spcAft>
                <a:spcPts val="0"/>
              </a:spcAft>
              <a:buClr>
                <a:schemeClr val="dk1"/>
              </a:buClr>
              <a:buSzPts val="1100"/>
              <a:buFont typeface="Arial"/>
              <a:buNone/>
            </a:pPr>
            <a:r>
              <a:rPr b="1" lang="en-US" sz="2550">
                <a:solidFill>
                  <a:schemeClr val="dk1"/>
                </a:solidFill>
                <a:latin typeface="Figtree"/>
                <a:ea typeface="Figtree"/>
                <a:cs typeface="Figtree"/>
                <a:sym typeface="Figtree"/>
              </a:rPr>
              <a:t>Shift: </a:t>
            </a:r>
            <a:r>
              <a:rPr lang="en-US" sz="2550">
                <a:solidFill>
                  <a:schemeClr val="dk1"/>
                </a:solidFill>
                <a:latin typeface="Figtree Light"/>
                <a:ea typeface="Figtree Light"/>
                <a:cs typeface="Figtree Light"/>
                <a:sym typeface="Figtree Light"/>
              </a:rPr>
              <a:t>moved away from interest-based matching toward the </a:t>
            </a:r>
            <a:r>
              <a:rPr i="1" lang="en-US" sz="2550">
                <a:solidFill>
                  <a:schemeClr val="dk1"/>
                </a:solidFill>
                <a:latin typeface="Figtree Light"/>
                <a:ea typeface="Figtree Light"/>
                <a:cs typeface="Figtree Light"/>
                <a:sym typeface="Figtree Light"/>
              </a:rPr>
              <a:t>serendipitous</a:t>
            </a:r>
            <a:r>
              <a:rPr lang="en-US" sz="2550">
                <a:solidFill>
                  <a:schemeClr val="dk1"/>
                </a:solidFill>
                <a:latin typeface="Figtree Light"/>
                <a:ea typeface="Figtree Light"/>
                <a:cs typeface="Figtree Light"/>
                <a:sym typeface="Figtree Light"/>
              </a:rPr>
              <a:t> side, unplanned, chance encounters rather than deliberate networking</a:t>
            </a:r>
            <a:endParaRPr sz="2550">
              <a:solidFill>
                <a:schemeClr val="dk1"/>
              </a:solidFill>
              <a:latin typeface="Figtree Light"/>
              <a:ea typeface="Figtree Light"/>
              <a:cs typeface="Figtree Light"/>
              <a:sym typeface="Figtree Light"/>
            </a:endParaRPr>
          </a:p>
          <a:p>
            <a:pPr indent="0" lvl="0" marL="0" rtl="0" algn="l">
              <a:lnSpc>
                <a:spcPct val="116098"/>
              </a:lnSpc>
              <a:spcBef>
                <a:spcPts val="0"/>
              </a:spcBef>
              <a:spcAft>
                <a:spcPts val="0"/>
              </a:spcAft>
              <a:buClr>
                <a:schemeClr val="dk1"/>
              </a:buClr>
              <a:buSzPts val="1100"/>
              <a:buFont typeface="Arial"/>
              <a:buNone/>
            </a:pPr>
            <a:r>
              <a:rPr b="1" lang="en-US" sz="2550">
                <a:solidFill>
                  <a:schemeClr val="dk1"/>
                </a:solidFill>
                <a:latin typeface="Figtree"/>
                <a:ea typeface="Figtree"/>
                <a:cs typeface="Figtree"/>
                <a:sym typeface="Figtree"/>
              </a:rPr>
              <a:t>Landed on domain:</a:t>
            </a:r>
            <a:r>
              <a:rPr lang="en-US" sz="2550">
                <a:solidFill>
                  <a:schemeClr val="dk1"/>
                </a:solidFill>
                <a:latin typeface="Figtree Light"/>
                <a:ea typeface="Figtree Light"/>
                <a:cs typeface="Figtree Light"/>
                <a:sym typeface="Figtree Light"/>
              </a:rPr>
              <a:t> serendipitous connections on campus</a:t>
            </a:r>
            <a:endParaRPr sz="2550">
              <a:solidFill>
                <a:schemeClr val="dk1"/>
              </a:solidFill>
              <a:latin typeface="Figtree Light"/>
              <a:ea typeface="Figtree Light"/>
              <a:cs typeface="Figtree Light"/>
              <a:sym typeface="Figtree Light"/>
            </a:endParaRPr>
          </a:p>
          <a:p>
            <a:pPr indent="0" lvl="0" marL="0" marR="0" rtl="0" algn="l">
              <a:lnSpc>
                <a:spcPct val="116098"/>
              </a:lnSpc>
              <a:spcBef>
                <a:spcPts val="0"/>
              </a:spcBef>
              <a:spcAft>
                <a:spcPts val="0"/>
              </a:spcAft>
              <a:buClr>
                <a:srgbClr val="2E2745"/>
              </a:buClr>
              <a:buSzPts val="2550"/>
              <a:buFont typeface="Figtree"/>
              <a:buNone/>
            </a:pPr>
            <a:r>
              <a:t/>
            </a:r>
            <a:endParaRPr sz="2550">
              <a:solidFill>
                <a:srgbClr val="2E2745"/>
              </a:solidFill>
              <a:latin typeface="Figtree"/>
              <a:ea typeface="Figtree"/>
              <a:cs typeface="Figtree"/>
              <a:sym typeface="Figtree"/>
            </a:endParaRPr>
          </a:p>
        </p:txBody>
      </p:sp>
      <p:sp>
        <p:nvSpPr>
          <p:cNvPr id="57" name="Google Shape;57;p5"/>
          <p:cNvSpPr/>
          <p:nvPr/>
        </p:nvSpPr>
        <p:spPr>
          <a:xfrm>
            <a:off x="9334500" y="1991841"/>
            <a:ext cx="7905750" cy="3746822"/>
          </a:xfrm>
          <a:prstGeom prst="roundRect">
            <a:avLst>
              <a:gd fmla="val 8135" name="adj"/>
            </a:avLst>
          </a:prstGeom>
          <a:solidFill>
            <a:srgbClr val="A9DC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9753600" y="2372841"/>
            <a:ext cx="7774200" cy="451500"/>
          </a:xfrm>
          <a:prstGeom prst="rect">
            <a:avLst/>
          </a:prstGeom>
          <a:noFill/>
          <a:ln>
            <a:noFill/>
          </a:ln>
        </p:spPr>
        <p:txBody>
          <a:bodyPr anchorCtr="0" anchor="t" bIns="25400" lIns="25400" spcFirstLastPara="1" rIns="25400" wrap="square" tIns="25400">
            <a:noAutofit/>
          </a:bodyPr>
          <a:lstStyle/>
          <a:p>
            <a:pPr indent="0" lvl="0" marL="0" marR="0" rtl="0" algn="l">
              <a:lnSpc>
                <a:spcPct val="129552"/>
              </a:lnSpc>
              <a:spcBef>
                <a:spcPts val="0"/>
              </a:spcBef>
              <a:spcAft>
                <a:spcPts val="0"/>
              </a:spcAft>
              <a:buClr>
                <a:srgbClr val="2E2745"/>
              </a:buClr>
              <a:buSzPts val="2100"/>
              <a:buFont typeface="Figtree"/>
              <a:buNone/>
            </a:pPr>
            <a:r>
              <a:rPr b="1" lang="en-US" sz="2100">
                <a:solidFill>
                  <a:srgbClr val="2E2745"/>
                </a:solidFill>
                <a:latin typeface="Figtree"/>
                <a:ea typeface="Figtree"/>
                <a:cs typeface="Figtree"/>
                <a:sym typeface="Figtree"/>
              </a:rPr>
              <a:t>NEXT2YOU (Paasovaara et al., 2016)</a:t>
            </a:r>
            <a:endParaRPr i="0" sz="2100" u="none" cap="none" strike="noStrike">
              <a:solidFill>
                <a:schemeClr val="dk1"/>
              </a:solidFill>
              <a:latin typeface="Figtree"/>
              <a:ea typeface="Figtree"/>
              <a:cs typeface="Figtree"/>
              <a:sym typeface="Figtree"/>
            </a:endParaRPr>
          </a:p>
        </p:txBody>
      </p:sp>
      <p:sp>
        <p:nvSpPr>
          <p:cNvPr id="59" name="Google Shape;59;p5"/>
          <p:cNvSpPr/>
          <p:nvPr/>
        </p:nvSpPr>
        <p:spPr>
          <a:xfrm>
            <a:off x="9334425" y="6119666"/>
            <a:ext cx="7905900" cy="3746700"/>
          </a:xfrm>
          <a:prstGeom prst="roundRect">
            <a:avLst>
              <a:gd fmla="val 8135" name="adj"/>
            </a:avLst>
          </a:prstGeom>
          <a:solidFill>
            <a:srgbClr val="F7B7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9753650" y="7058786"/>
            <a:ext cx="7279500" cy="1398000"/>
          </a:xfrm>
          <a:prstGeom prst="rect">
            <a:avLst/>
          </a:prstGeom>
          <a:noFill/>
          <a:ln>
            <a:noFill/>
          </a:ln>
        </p:spPr>
        <p:txBody>
          <a:bodyPr anchorCtr="0" anchor="t"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b="0" i="0" lang="en-US" sz="2550" u="none" cap="none" strike="noStrike">
                <a:solidFill>
                  <a:srgbClr val="2E2745"/>
                </a:solidFill>
                <a:latin typeface="Figtree"/>
                <a:ea typeface="Figtree"/>
                <a:cs typeface="Figtree"/>
                <a:sym typeface="Figtree"/>
              </a:rPr>
              <a:t>Two nightclubs linked by interactive tables. Strangers with no shared space still wanted to connect.</a:t>
            </a:r>
            <a:endParaRPr b="0" i="0" sz="2550" u="none" cap="none" strike="noStrike">
              <a:solidFill>
                <a:schemeClr val="dk1"/>
              </a:solidFill>
              <a:latin typeface="Calibri"/>
              <a:ea typeface="Calibri"/>
              <a:cs typeface="Calibri"/>
              <a:sym typeface="Calibri"/>
            </a:endParaRPr>
          </a:p>
        </p:txBody>
      </p:sp>
      <p:sp>
        <p:nvSpPr>
          <p:cNvPr id="61" name="Google Shape;61;p5"/>
          <p:cNvSpPr/>
          <p:nvPr/>
        </p:nvSpPr>
        <p:spPr>
          <a:xfrm>
            <a:off x="9753650" y="8456778"/>
            <a:ext cx="7279500" cy="9447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1200"/>
              </a:spcAft>
              <a:buNone/>
            </a:pPr>
            <a:r>
              <a:rPr lang="en-US" sz="2550">
                <a:solidFill>
                  <a:srgbClr val="2E2745"/>
                </a:solidFill>
                <a:latin typeface="Figtree"/>
                <a:ea typeface="Figtree"/>
                <a:cs typeface="Figtree"/>
                <a:sym typeface="Figtree"/>
              </a:rPr>
              <a:t>Strangers only share situational context (same campus) → how do we spark engagement, then give people a safe, low-effort way to act on it?</a:t>
            </a:r>
            <a:endParaRPr b="0" i="0" sz="2550" u="none" cap="none" strike="noStrike">
              <a:solidFill>
                <a:schemeClr val="dk1"/>
              </a:solidFill>
              <a:latin typeface="Calibri"/>
              <a:ea typeface="Calibri"/>
              <a:cs typeface="Calibri"/>
              <a:sym typeface="Calibri"/>
            </a:endParaRPr>
          </a:p>
        </p:txBody>
      </p:sp>
      <p:sp>
        <p:nvSpPr>
          <p:cNvPr id="62" name="Google Shape;62;p5"/>
          <p:cNvSpPr/>
          <p:nvPr/>
        </p:nvSpPr>
        <p:spPr>
          <a:xfrm>
            <a:off x="9753642" y="6512248"/>
            <a:ext cx="7774200" cy="451500"/>
          </a:xfrm>
          <a:prstGeom prst="rect">
            <a:avLst/>
          </a:prstGeom>
          <a:noFill/>
          <a:ln>
            <a:noFill/>
          </a:ln>
        </p:spPr>
        <p:txBody>
          <a:bodyPr anchorCtr="0" anchor="t" bIns="25400" lIns="25400" spcFirstLastPara="1" rIns="25400" wrap="square" tIns="25400">
            <a:noAutofit/>
          </a:bodyPr>
          <a:lstStyle/>
          <a:p>
            <a:pPr indent="0" lvl="0" marL="0" marR="0" rtl="0" algn="l">
              <a:lnSpc>
                <a:spcPct val="129552"/>
              </a:lnSpc>
              <a:spcBef>
                <a:spcPts val="0"/>
              </a:spcBef>
              <a:spcAft>
                <a:spcPts val="0"/>
              </a:spcAft>
              <a:buClr>
                <a:srgbClr val="2E2745"/>
              </a:buClr>
              <a:buSzPts val="2100"/>
              <a:buFont typeface="Figtree"/>
              <a:buNone/>
            </a:pPr>
            <a:r>
              <a:rPr b="1" i="0" lang="en-US" sz="2100" u="none" cap="none" strike="noStrike">
                <a:solidFill>
                  <a:srgbClr val="2E2745"/>
                </a:solidFill>
                <a:latin typeface="Figtree"/>
                <a:ea typeface="Figtree"/>
                <a:cs typeface="Figtree"/>
                <a:sym typeface="Figtree"/>
              </a:rPr>
              <a:t>SKETCHING WITH STRANGERS (Åkerman et al., 2010)</a:t>
            </a:r>
            <a:endParaRPr b="0" i="0" sz="2100" u="none" cap="none" strike="noStrike">
              <a:solidFill>
                <a:schemeClr val="dk1"/>
              </a:solidFill>
              <a:latin typeface="Calibri"/>
              <a:ea typeface="Calibri"/>
              <a:cs typeface="Calibri"/>
              <a:sym typeface="Calibri"/>
            </a:endParaRPr>
          </a:p>
        </p:txBody>
      </p:sp>
      <p:sp>
        <p:nvSpPr>
          <p:cNvPr id="63" name="Google Shape;63;p5"/>
          <p:cNvSpPr/>
          <p:nvPr/>
        </p:nvSpPr>
        <p:spPr>
          <a:xfrm>
            <a:off x="9753650" y="2833011"/>
            <a:ext cx="7279500" cy="1398000"/>
          </a:xfrm>
          <a:prstGeom prst="rect">
            <a:avLst/>
          </a:prstGeom>
          <a:noFill/>
          <a:ln>
            <a:noFill/>
          </a:ln>
        </p:spPr>
        <p:txBody>
          <a:bodyPr anchorCtr="0" anchor="t"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lang="en-US" sz="2550">
                <a:solidFill>
                  <a:srgbClr val="2E2745"/>
                </a:solidFill>
                <a:latin typeface="Figtree"/>
                <a:ea typeface="Figtree"/>
                <a:cs typeface="Figtree"/>
                <a:sym typeface="Figtree"/>
              </a:rPr>
              <a:t>Sparks face-to-face interaction between strangers who are regularly in close physical proximity.</a:t>
            </a:r>
            <a:endParaRPr b="0" i="0" sz="2550" u="none" cap="none" strike="noStrike">
              <a:solidFill>
                <a:schemeClr val="dk1"/>
              </a:solidFill>
              <a:latin typeface="Calibri"/>
              <a:ea typeface="Calibri"/>
              <a:cs typeface="Calibri"/>
              <a:sym typeface="Calibri"/>
            </a:endParaRPr>
          </a:p>
        </p:txBody>
      </p:sp>
      <p:sp>
        <p:nvSpPr>
          <p:cNvPr id="64" name="Google Shape;64;p5"/>
          <p:cNvSpPr/>
          <p:nvPr/>
        </p:nvSpPr>
        <p:spPr>
          <a:xfrm>
            <a:off x="9753650" y="4345403"/>
            <a:ext cx="7279500" cy="944700"/>
          </a:xfrm>
          <a:prstGeom prst="rect">
            <a:avLst/>
          </a:prstGeom>
          <a:noFill/>
          <a:ln>
            <a:noFill/>
          </a:ln>
        </p:spPr>
        <p:txBody>
          <a:bodyPr anchorCtr="0" anchor="t"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lang="en-US" sz="2550">
                <a:solidFill>
                  <a:srgbClr val="2E2745"/>
                </a:solidFill>
                <a:latin typeface="Figtree"/>
                <a:ea typeface="Figtree"/>
                <a:cs typeface="Figtree"/>
                <a:sym typeface="Figtree"/>
              </a:rPr>
              <a:t>Progressive disclosure lowers the social risk of approaching strangers.</a:t>
            </a:r>
            <a:endParaRPr b="0" i="0" sz="2550" u="none" cap="none" strike="noStrike">
              <a:solidFill>
                <a:schemeClr val="dk1"/>
              </a:solidFill>
              <a:latin typeface="Calibri"/>
              <a:ea typeface="Calibri"/>
              <a:cs typeface="Calibri"/>
              <a:sym typeface="Calibri"/>
            </a:endParaRPr>
          </a:p>
        </p:txBody>
      </p:sp>
      <p:pic>
        <p:nvPicPr>
          <p:cNvPr id="65" name="Google Shape;65;p5"/>
          <p:cNvPicPr preferRelativeResize="0"/>
          <p:nvPr/>
        </p:nvPicPr>
        <p:blipFill>
          <a:blip r:embed="rId3">
            <a:alphaModFix/>
          </a:blip>
          <a:stretch>
            <a:fillRect/>
          </a:stretch>
        </p:blipFill>
        <p:spPr>
          <a:xfrm>
            <a:off x="3583438" y="7770300"/>
            <a:ext cx="2834525" cy="1771599"/>
          </a:xfrm>
          <a:prstGeom prst="rect">
            <a:avLst/>
          </a:prstGeom>
          <a:solidFill>
            <a:srgbClr val="FFFBF3"/>
          </a:solidFill>
          <a:ln cap="flat" cmpd="sng" w="28575">
            <a:solidFill>
              <a:srgbClr val="CDBDF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3"/>
        </a:solidFill>
      </p:bgPr>
    </p:bg>
    <p:spTree>
      <p:nvGrpSpPr>
        <p:cNvPr id="70" name="Shape 70"/>
        <p:cNvGrpSpPr/>
        <p:nvPr/>
      </p:nvGrpSpPr>
      <p:grpSpPr>
        <a:xfrm>
          <a:off x="0" y="0"/>
          <a:ext cx="0" cy="0"/>
          <a:chOff x="0" y="0"/>
          <a:chExt cx="0" cy="0"/>
        </a:xfrm>
      </p:grpSpPr>
      <p:sp>
        <p:nvSpPr>
          <p:cNvPr id="71" name="Google Shape;71;p6"/>
          <p:cNvSpPr/>
          <p:nvPr/>
        </p:nvSpPr>
        <p:spPr>
          <a:xfrm>
            <a:off x="1047750" y="914400"/>
            <a:ext cx="17811750" cy="696441"/>
          </a:xfrm>
          <a:prstGeom prst="rect">
            <a:avLst/>
          </a:prstGeom>
          <a:noFill/>
          <a:ln>
            <a:noFill/>
          </a:ln>
        </p:spPr>
        <p:txBody>
          <a:bodyPr anchorCtr="0" anchor="t" bIns="25400" lIns="25400" spcFirstLastPara="1" rIns="25400" wrap="square" tIns="25400">
            <a:noAutofit/>
          </a:bodyPr>
          <a:lstStyle/>
          <a:p>
            <a:pPr indent="0" lvl="0" marL="0" marR="0" rtl="0" algn="l">
              <a:lnSpc>
                <a:spcPct val="94041"/>
              </a:lnSpc>
              <a:spcBef>
                <a:spcPts val="0"/>
              </a:spcBef>
              <a:spcAft>
                <a:spcPts val="0"/>
              </a:spcAft>
              <a:buClr>
                <a:srgbClr val="2E2745"/>
              </a:buClr>
              <a:buSzPts val="4800"/>
              <a:buFont typeface="Caprasimo"/>
              <a:buNone/>
            </a:pPr>
            <a:r>
              <a:rPr b="0" i="0" lang="en-US" sz="4800" u="none" cap="none" strike="noStrike">
                <a:solidFill>
                  <a:srgbClr val="2E2745"/>
                </a:solidFill>
                <a:latin typeface="Caprasimo"/>
                <a:ea typeface="Caprasimo"/>
                <a:cs typeface="Caprasimo"/>
                <a:sym typeface="Caprasimo"/>
              </a:rPr>
              <a:t>Design opportunities and concepts</a:t>
            </a:r>
            <a:endParaRPr b="0" i="0" sz="4800" u="none" cap="none" strike="noStrike">
              <a:solidFill>
                <a:schemeClr val="dk1"/>
              </a:solidFill>
              <a:latin typeface="Calibri"/>
              <a:ea typeface="Calibri"/>
              <a:cs typeface="Calibri"/>
              <a:sym typeface="Calibri"/>
            </a:endParaRPr>
          </a:p>
        </p:txBody>
      </p:sp>
      <p:sp>
        <p:nvSpPr>
          <p:cNvPr id="72" name="Google Shape;72;p6"/>
          <p:cNvSpPr/>
          <p:nvPr/>
        </p:nvSpPr>
        <p:spPr>
          <a:xfrm>
            <a:off x="3671888" y="2025016"/>
            <a:ext cx="7125600" cy="628800"/>
          </a:xfrm>
          <a:prstGeom prst="rect">
            <a:avLst/>
          </a:prstGeom>
          <a:noFill/>
          <a:ln>
            <a:noFill/>
          </a:ln>
        </p:spPr>
        <p:txBody>
          <a:bodyPr anchorCtr="0" anchor="t" bIns="25400" lIns="25400" spcFirstLastPara="1" rIns="25400" wrap="square" tIns="25400">
            <a:noAutofit/>
          </a:bodyPr>
          <a:lstStyle/>
          <a:p>
            <a:pPr indent="0" lvl="0" marL="0" marR="0" rtl="0" algn="l">
              <a:lnSpc>
                <a:spcPct val="136264"/>
              </a:lnSpc>
              <a:spcBef>
                <a:spcPts val="0"/>
              </a:spcBef>
              <a:spcAft>
                <a:spcPts val="0"/>
              </a:spcAft>
              <a:buClr>
                <a:srgbClr val="2E2745"/>
              </a:buClr>
              <a:buSzPts val="3000"/>
              <a:buFont typeface="Caprasimo"/>
              <a:buNone/>
            </a:pPr>
            <a:r>
              <a:rPr b="0" i="0" lang="en-US" sz="3000" u="none" cap="none" strike="noStrike">
                <a:solidFill>
                  <a:srgbClr val="2E2745"/>
                </a:solidFill>
                <a:latin typeface="Caprasimo"/>
                <a:ea typeface="Caprasimo"/>
                <a:cs typeface="Caprasimo"/>
                <a:sym typeface="Caprasimo"/>
              </a:rPr>
              <a:t>Synchronous</a:t>
            </a:r>
            <a:endParaRPr b="0" i="0" sz="3000" u="none" cap="none" strike="noStrike">
              <a:solidFill>
                <a:schemeClr val="dk1"/>
              </a:solidFill>
              <a:latin typeface="Calibri"/>
              <a:ea typeface="Calibri"/>
              <a:cs typeface="Calibri"/>
              <a:sym typeface="Calibri"/>
            </a:endParaRPr>
          </a:p>
        </p:txBody>
      </p:sp>
      <p:sp>
        <p:nvSpPr>
          <p:cNvPr id="73" name="Google Shape;73;p6"/>
          <p:cNvSpPr/>
          <p:nvPr/>
        </p:nvSpPr>
        <p:spPr>
          <a:xfrm>
            <a:off x="10482263" y="2025016"/>
            <a:ext cx="7125600" cy="628800"/>
          </a:xfrm>
          <a:prstGeom prst="rect">
            <a:avLst/>
          </a:prstGeom>
          <a:noFill/>
          <a:ln>
            <a:noFill/>
          </a:ln>
        </p:spPr>
        <p:txBody>
          <a:bodyPr anchorCtr="0" anchor="t" bIns="25400" lIns="25400" spcFirstLastPara="1" rIns="25400" wrap="square" tIns="25400">
            <a:noAutofit/>
          </a:bodyPr>
          <a:lstStyle/>
          <a:p>
            <a:pPr indent="0" lvl="0" marL="0" marR="0" rtl="0" algn="l">
              <a:lnSpc>
                <a:spcPct val="136264"/>
              </a:lnSpc>
              <a:spcBef>
                <a:spcPts val="0"/>
              </a:spcBef>
              <a:spcAft>
                <a:spcPts val="0"/>
              </a:spcAft>
              <a:buClr>
                <a:srgbClr val="2E2745"/>
              </a:buClr>
              <a:buSzPts val="3000"/>
              <a:buFont typeface="Caprasimo"/>
              <a:buNone/>
            </a:pPr>
            <a:r>
              <a:rPr b="0" i="0" lang="en-US" sz="3000" u="none" cap="none" strike="noStrike">
                <a:solidFill>
                  <a:srgbClr val="2E2745"/>
                </a:solidFill>
                <a:latin typeface="Caprasimo"/>
                <a:ea typeface="Caprasimo"/>
                <a:cs typeface="Caprasimo"/>
                <a:sym typeface="Caprasimo"/>
              </a:rPr>
              <a:t>Asynchronous</a:t>
            </a:r>
            <a:endParaRPr b="0" i="0" sz="3000" u="none" cap="none" strike="noStrike">
              <a:solidFill>
                <a:schemeClr val="dk1"/>
              </a:solidFill>
              <a:latin typeface="Calibri"/>
              <a:ea typeface="Calibri"/>
              <a:cs typeface="Calibri"/>
              <a:sym typeface="Calibri"/>
            </a:endParaRPr>
          </a:p>
        </p:txBody>
      </p:sp>
      <p:sp>
        <p:nvSpPr>
          <p:cNvPr id="74" name="Google Shape;74;p6"/>
          <p:cNvSpPr/>
          <p:nvPr/>
        </p:nvSpPr>
        <p:spPr>
          <a:xfrm>
            <a:off x="680085" y="2844166"/>
            <a:ext cx="2649000" cy="3280800"/>
          </a:xfrm>
          <a:prstGeom prst="rect">
            <a:avLst/>
          </a:prstGeom>
          <a:noFill/>
          <a:ln>
            <a:noFill/>
          </a:ln>
        </p:spPr>
        <p:txBody>
          <a:bodyPr anchorCtr="0" anchor="ctr" bIns="25400" lIns="25400" spcFirstLastPara="1" rIns="25400" wrap="square" tIns="25400">
            <a:noAutofit/>
          </a:bodyPr>
          <a:lstStyle/>
          <a:p>
            <a:pPr indent="0" lvl="0" marL="0" marR="0" rtl="0" algn="r">
              <a:lnSpc>
                <a:spcPct val="136264"/>
              </a:lnSpc>
              <a:spcBef>
                <a:spcPts val="0"/>
              </a:spcBef>
              <a:spcAft>
                <a:spcPts val="0"/>
              </a:spcAft>
              <a:buClr>
                <a:srgbClr val="2E2745"/>
              </a:buClr>
              <a:buSzPts val="3000"/>
              <a:buFont typeface="Caprasimo"/>
              <a:buNone/>
            </a:pPr>
            <a:r>
              <a:rPr b="0" i="0" lang="en-US" sz="3000" u="none" cap="none" strike="noStrike">
                <a:solidFill>
                  <a:srgbClr val="2E2745"/>
                </a:solidFill>
                <a:latin typeface="Caprasimo"/>
                <a:ea typeface="Caprasimo"/>
                <a:cs typeface="Caprasimo"/>
                <a:sym typeface="Caprasimo"/>
              </a:rPr>
              <a:t>Co-located</a:t>
            </a:r>
            <a:endParaRPr b="0" i="0" sz="3000" u="none" cap="none" strike="noStrike">
              <a:solidFill>
                <a:schemeClr val="dk1"/>
              </a:solidFill>
              <a:latin typeface="Calibri"/>
              <a:ea typeface="Calibri"/>
              <a:cs typeface="Calibri"/>
              <a:sym typeface="Calibri"/>
            </a:endParaRPr>
          </a:p>
        </p:txBody>
      </p:sp>
      <p:sp>
        <p:nvSpPr>
          <p:cNvPr id="75" name="Google Shape;75;p6"/>
          <p:cNvSpPr/>
          <p:nvPr/>
        </p:nvSpPr>
        <p:spPr>
          <a:xfrm>
            <a:off x="3557588" y="2844166"/>
            <a:ext cx="6581700" cy="3242700"/>
          </a:xfrm>
          <a:prstGeom prst="roundRect">
            <a:avLst>
              <a:gd fmla="val 9400" name="adj"/>
            </a:avLst>
          </a:prstGeom>
          <a:solidFill>
            <a:srgbClr val="CDB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3938588" y="3225166"/>
            <a:ext cx="6017100" cy="2518800"/>
          </a:xfrm>
          <a:prstGeom prst="rect">
            <a:avLst/>
          </a:prstGeom>
          <a:noFill/>
          <a:ln>
            <a:noFill/>
          </a:ln>
        </p:spPr>
        <p:txBody>
          <a:bodyPr anchorCtr="0" anchor="ctr"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b="0" i="0" lang="en-US" sz="2550" u="none" cap="none" strike="noStrike">
                <a:solidFill>
                  <a:srgbClr val="2E2745"/>
                </a:solidFill>
                <a:latin typeface="Figtree"/>
                <a:ea typeface="Figtree"/>
                <a:cs typeface="Figtree"/>
                <a:sym typeface="Figtree"/>
              </a:rPr>
              <a:t>“Whispers” notifying students when repeatedly next to the same person, e.g. in the same lecture theatre row</a:t>
            </a:r>
            <a:endParaRPr b="0" i="0" sz="2550" u="none" cap="none" strike="noStrike">
              <a:solidFill>
                <a:schemeClr val="dk1"/>
              </a:solidFill>
              <a:latin typeface="Calibri"/>
              <a:ea typeface="Calibri"/>
              <a:cs typeface="Calibri"/>
              <a:sym typeface="Calibri"/>
            </a:endParaRPr>
          </a:p>
        </p:txBody>
      </p:sp>
      <p:sp>
        <p:nvSpPr>
          <p:cNvPr id="77" name="Google Shape;77;p6"/>
          <p:cNvSpPr/>
          <p:nvPr/>
        </p:nvSpPr>
        <p:spPr>
          <a:xfrm>
            <a:off x="10367963" y="2844166"/>
            <a:ext cx="6581700" cy="3242700"/>
          </a:xfrm>
          <a:prstGeom prst="roundRect">
            <a:avLst>
              <a:gd fmla="val 9400" name="adj"/>
            </a:avLst>
          </a:prstGeom>
          <a:solidFill>
            <a:srgbClr val="FFE1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10748963" y="3225166"/>
            <a:ext cx="6017100" cy="2518800"/>
          </a:xfrm>
          <a:prstGeom prst="rect">
            <a:avLst/>
          </a:prstGeom>
          <a:noFill/>
          <a:ln>
            <a:noFill/>
          </a:ln>
        </p:spPr>
        <p:txBody>
          <a:bodyPr anchorCtr="0" anchor="ctr"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b="0" i="0" lang="en-US" sz="2550" u="none" cap="none" strike="noStrike">
                <a:solidFill>
                  <a:srgbClr val="2E2745"/>
                </a:solidFill>
                <a:latin typeface="Figtree"/>
                <a:ea typeface="Figtree"/>
                <a:cs typeface="Figtree"/>
                <a:sym typeface="Figtree"/>
              </a:rPr>
              <a:t>Messages left behind for the next person to sit at the table</a:t>
            </a:r>
            <a:endParaRPr b="0" i="0" sz="2550" u="none" cap="none" strike="noStrike">
              <a:solidFill>
                <a:schemeClr val="dk1"/>
              </a:solidFill>
              <a:latin typeface="Calibri"/>
              <a:ea typeface="Calibri"/>
              <a:cs typeface="Calibri"/>
              <a:sym typeface="Calibri"/>
            </a:endParaRPr>
          </a:p>
        </p:txBody>
      </p:sp>
      <p:sp>
        <p:nvSpPr>
          <p:cNvPr id="79" name="Google Shape;79;p6"/>
          <p:cNvSpPr/>
          <p:nvPr/>
        </p:nvSpPr>
        <p:spPr>
          <a:xfrm>
            <a:off x="680085" y="6315433"/>
            <a:ext cx="2649000" cy="3280800"/>
          </a:xfrm>
          <a:prstGeom prst="rect">
            <a:avLst/>
          </a:prstGeom>
          <a:noFill/>
          <a:ln>
            <a:noFill/>
          </a:ln>
        </p:spPr>
        <p:txBody>
          <a:bodyPr anchorCtr="0" anchor="ctr" bIns="25400" lIns="25400" spcFirstLastPara="1" rIns="25400" wrap="square" tIns="25400">
            <a:noAutofit/>
          </a:bodyPr>
          <a:lstStyle/>
          <a:p>
            <a:pPr indent="0" lvl="0" marL="0" marR="0" rtl="0" algn="r">
              <a:lnSpc>
                <a:spcPct val="136264"/>
              </a:lnSpc>
              <a:spcBef>
                <a:spcPts val="0"/>
              </a:spcBef>
              <a:spcAft>
                <a:spcPts val="0"/>
              </a:spcAft>
              <a:buClr>
                <a:srgbClr val="2E2745"/>
              </a:buClr>
              <a:buSzPts val="3000"/>
              <a:buFont typeface="Caprasimo"/>
              <a:buNone/>
            </a:pPr>
            <a:r>
              <a:rPr b="0" i="0" lang="en-US" sz="3000" u="none" cap="none" strike="noStrike">
                <a:solidFill>
                  <a:srgbClr val="2E2745"/>
                </a:solidFill>
                <a:latin typeface="Caprasimo"/>
                <a:ea typeface="Caprasimo"/>
                <a:cs typeface="Caprasimo"/>
                <a:sym typeface="Caprasimo"/>
              </a:rPr>
              <a:t>Distributed</a:t>
            </a:r>
            <a:endParaRPr b="0" i="0" sz="3000" u="none" cap="none" strike="noStrike">
              <a:solidFill>
                <a:schemeClr val="dk1"/>
              </a:solidFill>
              <a:latin typeface="Calibri"/>
              <a:ea typeface="Calibri"/>
              <a:cs typeface="Calibri"/>
              <a:sym typeface="Calibri"/>
            </a:endParaRPr>
          </a:p>
        </p:txBody>
      </p:sp>
      <p:sp>
        <p:nvSpPr>
          <p:cNvPr id="80" name="Google Shape;80;p6"/>
          <p:cNvSpPr/>
          <p:nvPr/>
        </p:nvSpPr>
        <p:spPr>
          <a:xfrm>
            <a:off x="3557588" y="6315433"/>
            <a:ext cx="6581700" cy="3242700"/>
          </a:xfrm>
          <a:prstGeom prst="roundRect">
            <a:avLst>
              <a:gd fmla="val 9399" name="adj"/>
            </a:avLst>
          </a:prstGeom>
          <a:solidFill>
            <a:srgbClr val="A9DC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3938588" y="6696433"/>
            <a:ext cx="6017100" cy="2518800"/>
          </a:xfrm>
          <a:prstGeom prst="rect">
            <a:avLst/>
          </a:prstGeom>
          <a:noFill/>
          <a:ln>
            <a:noFill/>
          </a:ln>
        </p:spPr>
        <p:txBody>
          <a:bodyPr anchorCtr="0" anchor="ctr"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b="0" i="0" lang="en-US" sz="2550" u="none" cap="none" strike="noStrike">
                <a:solidFill>
                  <a:srgbClr val="2E2745"/>
                </a:solidFill>
                <a:latin typeface="Figtree"/>
                <a:ea typeface="Figtree"/>
                <a:cs typeface="Figtree"/>
                <a:sym typeface="Figtree"/>
              </a:rPr>
              <a:t>A real-time voice connection between two students on opposite sides of campus</a:t>
            </a:r>
            <a:endParaRPr b="0" i="0" sz="2550" u="none" cap="none" strike="noStrike">
              <a:solidFill>
                <a:schemeClr val="dk1"/>
              </a:solidFill>
              <a:latin typeface="Calibri"/>
              <a:ea typeface="Calibri"/>
              <a:cs typeface="Calibri"/>
              <a:sym typeface="Calibri"/>
            </a:endParaRPr>
          </a:p>
        </p:txBody>
      </p:sp>
      <p:sp>
        <p:nvSpPr>
          <p:cNvPr id="82" name="Google Shape;82;p6"/>
          <p:cNvSpPr/>
          <p:nvPr/>
        </p:nvSpPr>
        <p:spPr>
          <a:xfrm>
            <a:off x="10367963" y="6315433"/>
            <a:ext cx="6581700" cy="3242700"/>
          </a:xfrm>
          <a:prstGeom prst="roundRect">
            <a:avLst>
              <a:gd fmla="val 9399" name="adj"/>
            </a:avLst>
          </a:prstGeom>
          <a:solidFill>
            <a:srgbClr val="FFC7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10748963" y="6696433"/>
            <a:ext cx="6017100" cy="2518800"/>
          </a:xfrm>
          <a:prstGeom prst="rect">
            <a:avLst/>
          </a:prstGeom>
          <a:noFill/>
          <a:ln>
            <a:noFill/>
          </a:ln>
        </p:spPr>
        <p:txBody>
          <a:bodyPr anchorCtr="0" anchor="ctr" bIns="25400" lIns="25400" spcFirstLastPara="1" rIns="25400" wrap="square" tIns="25400">
            <a:noAutofit/>
          </a:bodyPr>
          <a:lstStyle/>
          <a:p>
            <a:pPr indent="0" lvl="0" marL="0" marR="0" rtl="0" algn="l">
              <a:lnSpc>
                <a:spcPct val="116098"/>
              </a:lnSpc>
              <a:spcBef>
                <a:spcPts val="0"/>
              </a:spcBef>
              <a:spcAft>
                <a:spcPts val="0"/>
              </a:spcAft>
              <a:buClr>
                <a:srgbClr val="2E2745"/>
              </a:buClr>
              <a:buSzPts val="2550"/>
              <a:buFont typeface="Figtree"/>
              <a:buNone/>
            </a:pPr>
            <a:r>
              <a:rPr b="0" i="0" lang="en-US" sz="2550" u="none" cap="none" strike="noStrike">
                <a:solidFill>
                  <a:srgbClr val="2E2745"/>
                </a:solidFill>
                <a:latin typeface="Figtree"/>
                <a:ea typeface="Figtree"/>
                <a:cs typeface="Figtree"/>
                <a:sym typeface="Figtree"/>
              </a:rPr>
              <a:t>Weekly digest showing students that they've unknowingly crossed paths with X people Y times in a week, with the option to meet up</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A"/>
        </a:solidFill>
      </p:bgPr>
    </p:bg>
    <p:spTree>
      <p:nvGrpSpPr>
        <p:cNvPr id="88" name="Shape 88"/>
        <p:cNvGrpSpPr/>
        <p:nvPr/>
      </p:nvGrpSpPr>
      <p:grpSpPr>
        <a:xfrm>
          <a:off x="0" y="0"/>
          <a:ext cx="0" cy="0"/>
          <a:chOff x="0" y="0"/>
          <a:chExt cx="0" cy="0"/>
        </a:xfrm>
      </p:grpSpPr>
      <p:sp>
        <p:nvSpPr>
          <p:cNvPr id="89" name="Google Shape;89;p7"/>
          <p:cNvSpPr/>
          <p:nvPr/>
        </p:nvSpPr>
        <p:spPr>
          <a:xfrm>
            <a:off x="14478000" y="-1524000"/>
            <a:ext cx="4953000" cy="4953000"/>
          </a:xfrm>
          <a:prstGeom prst="ellipse">
            <a:avLst/>
          </a:prstGeom>
          <a:solidFill>
            <a:srgbClr val="F7B7C8">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1047750" y="914400"/>
            <a:ext cx="17811750" cy="696441"/>
          </a:xfrm>
          <a:prstGeom prst="rect">
            <a:avLst/>
          </a:prstGeom>
          <a:noFill/>
          <a:ln>
            <a:noFill/>
          </a:ln>
        </p:spPr>
        <p:txBody>
          <a:bodyPr anchorCtr="0" anchor="t" bIns="25400" lIns="25400" spcFirstLastPara="1" rIns="25400" wrap="square" tIns="25400">
            <a:noAutofit/>
          </a:bodyPr>
          <a:lstStyle/>
          <a:p>
            <a:pPr indent="0" lvl="0" marL="0" marR="0" rtl="0" algn="l">
              <a:lnSpc>
                <a:spcPct val="94041"/>
              </a:lnSpc>
              <a:spcBef>
                <a:spcPts val="0"/>
              </a:spcBef>
              <a:spcAft>
                <a:spcPts val="0"/>
              </a:spcAft>
              <a:buClr>
                <a:srgbClr val="2E2745"/>
              </a:buClr>
              <a:buSzPts val="4800"/>
              <a:buFont typeface="Caprasimo"/>
              <a:buNone/>
            </a:pPr>
            <a:r>
              <a:rPr b="0" i="0" lang="en-US" sz="4800" u="none" cap="none" strike="noStrike">
                <a:solidFill>
                  <a:srgbClr val="2E2745"/>
                </a:solidFill>
                <a:latin typeface="Caprasimo"/>
                <a:ea typeface="Caprasimo"/>
                <a:cs typeface="Caprasimo"/>
                <a:sym typeface="Caprasimo"/>
              </a:rPr>
              <a:t>Intended audience</a:t>
            </a:r>
            <a:endParaRPr b="0" i="0" sz="4800" u="none" cap="none" strike="noStrike">
              <a:solidFill>
                <a:schemeClr val="dk1"/>
              </a:solidFill>
              <a:latin typeface="Calibri"/>
              <a:ea typeface="Calibri"/>
              <a:cs typeface="Calibri"/>
              <a:sym typeface="Calibri"/>
            </a:endParaRPr>
          </a:p>
        </p:txBody>
      </p:sp>
      <p:sp>
        <p:nvSpPr>
          <p:cNvPr id="91" name="Google Shape;91;p7"/>
          <p:cNvSpPr/>
          <p:nvPr/>
        </p:nvSpPr>
        <p:spPr>
          <a:xfrm>
            <a:off x="1047750" y="1763250"/>
            <a:ext cx="9085200" cy="1127700"/>
          </a:xfrm>
          <a:prstGeom prst="rect">
            <a:avLst/>
          </a:prstGeom>
          <a:noFill/>
          <a:ln>
            <a:noFill/>
          </a:ln>
        </p:spPr>
        <p:txBody>
          <a:bodyPr anchorCtr="0" anchor="t" bIns="25400" lIns="25400" spcFirstLastPara="1" rIns="25400" wrap="square" tIns="25400">
            <a:noAutofit/>
          </a:bodyPr>
          <a:lstStyle/>
          <a:p>
            <a:pPr indent="0" lvl="0" marL="0" marR="0" rtl="0" algn="l">
              <a:lnSpc>
                <a:spcPct val="107925"/>
              </a:lnSpc>
              <a:spcBef>
                <a:spcPts val="0"/>
              </a:spcBef>
              <a:spcAft>
                <a:spcPts val="0"/>
              </a:spcAft>
              <a:buClr>
                <a:srgbClr val="2E2745"/>
              </a:buClr>
              <a:buSzPts val="3300"/>
              <a:buFont typeface="Figtree"/>
              <a:buNone/>
            </a:pPr>
            <a:r>
              <a:rPr b="0" i="0" lang="en-US" sz="3300" u="none" cap="none" strike="noStrike">
                <a:solidFill>
                  <a:srgbClr val="2E2745"/>
                </a:solidFill>
                <a:latin typeface="Figtree"/>
                <a:ea typeface="Figtree"/>
                <a:cs typeface="Figtree"/>
                <a:sym typeface="Figtree"/>
              </a:rPr>
              <a:t>University students in Brisbane, 18 plus, on campus and interacting face to face</a:t>
            </a:r>
            <a:endParaRPr b="0" i="0" sz="3300" u="none" cap="none" strike="noStrike">
              <a:solidFill>
                <a:schemeClr val="dk1"/>
              </a:solidFill>
              <a:latin typeface="Calibri"/>
              <a:ea typeface="Calibri"/>
              <a:cs typeface="Calibri"/>
              <a:sym typeface="Calibri"/>
            </a:endParaRPr>
          </a:p>
        </p:txBody>
      </p:sp>
      <p:sp>
        <p:nvSpPr>
          <p:cNvPr id="92" name="Google Shape;92;p7"/>
          <p:cNvSpPr/>
          <p:nvPr/>
        </p:nvSpPr>
        <p:spPr>
          <a:xfrm>
            <a:off x="1047750" y="3462412"/>
            <a:ext cx="2762250" cy="823913"/>
          </a:xfrm>
          <a:prstGeom prst="roundRect">
            <a:avLst>
              <a:gd fmla="val 50000" name="adj"/>
            </a:avLst>
          </a:prstGeom>
          <a:solidFill>
            <a:srgbClr val="CDB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1387316" y="3652912"/>
            <a:ext cx="2083118" cy="481012"/>
          </a:xfrm>
          <a:prstGeom prst="rect">
            <a:avLst/>
          </a:prstGeom>
          <a:noFill/>
          <a:ln>
            <a:noFill/>
          </a:ln>
        </p:spPr>
        <p:txBody>
          <a:bodyPr anchorCtr="0" anchor="t" bIns="25400" lIns="25400" spcFirstLastPara="1" rIns="25400" wrap="square" tIns="25400">
            <a:noAutofit/>
          </a:bodyPr>
          <a:lstStyle/>
          <a:p>
            <a:pPr indent="0" lvl="0" marL="0" marR="0" rtl="0" algn="ctr">
              <a:lnSpc>
                <a:spcPct val="129167"/>
              </a:lnSpc>
              <a:spcBef>
                <a:spcPts val="0"/>
              </a:spcBef>
              <a:spcAft>
                <a:spcPts val="0"/>
              </a:spcAft>
              <a:buClr>
                <a:srgbClr val="2E2745"/>
              </a:buClr>
              <a:buSzPts val="2250"/>
              <a:buFont typeface="Figtree"/>
              <a:buNone/>
            </a:pPr>
            <a:r>
              <a:rPr b="1" i="0" lang="en-US" sz="2250" u="none" cap="none" strike="noStrike">
                <a:solidFill>
                  <a:srgbClr val="2E2745"/>
                </a:solidFill>
                <a:latin typeface="Figtree"/>
                <a:ea typeface="Figtree"/>
                <a:cs typeface="Figtree"/>
                <a:sym typeface="Figtree"/>
              </a:rPr>
              <a:t>VALUES</a:t>
            </a:r>
            <a:endParaRPr b="0" i="0" sz="2250" u="none" cap="none" strike="noStrike">
              <a:solidFill>
                <a:schemeClr val="dk1"/>
              </a:solidFill>
              <a:latin typeface="Calibri"/>
              <a:ea typeface="Calibri"/>
              <a:cs typeface="Calibri"/>
              <a:sym typeface="Calibri"/>
            </a:endParaRPr>
          </a:p>
        </p:txBody>
      </p:sp>
      <p:sp>
        <p:nvSpPr>
          <p:cNvPr id="94" name="Google Shape;94;p7"/>
          <p:cNvSpPr/>
          <p:nvPr/>
        </p:nvSpPr>
        <p:spPr>
          <a:xfrm>
            <a:off x="4191000" y="3614375"/>
            <a:ext cx="6347400" cy="558000"/>
          </a:xfrm>
          <a:prstGeom prst="rect">
            <a:avLst/>
          </a:prstGeom>
          <a:noFill/>
          <a:ln>
            <a:noFill/>
          </a:ln>
        </p:spPr>
        <p:txBody>
          <a:bodyPr anchorCtr="0" anchor="t" bIns="25400" lIns="25400" spcFirstLastPara="1" rIns="25400" wrap="square" tIns="25400">
            <a:noAutofit/>
          </a:bodyPr>
          <a:lstStyle/>
          <a:p>
            <a:pPr indent="0" lvl="0" marL="0" marR="0" rtl="0" algn="l">
              <a:lnSpc>
                <a:spcPct val="108119"/>
              </a:lnSpc>
              <a:spcBef>
                <a:spcPts val="0"/>
              </a:spcBef>
              <a:spcAft>
                <a:spcPts val="0"/>
              </a:spcAft>
              <a:buClr>
                <a:srgbClr val="2E2745"/>
              </a:buClr>
              <a:buSzPts val="3150"/>
              <a:buFont typeface="Figtree"/>
              <a:buNone/>
            </a:pPr>
            <a:r>
              <a:rPr b="0" i="0" lang="en-US" sz="3150" u="none" cap="none" strike="noStrike">
                <a:solidFill>
                  <a:srgbClr val="2E2745"/>
                </a:solidFill>
                <a:latin typeface="Figtree"/>
                <a:ea typeface="Figtree"/>
                <a:cs typeface="Figtree"/>
                <a:sym typeface="Figtree"/>
              </a:rPr>
              <a:t>Curiosity and spontaneity, kept low stakes and playful</a:t>
            </a:r>
            <a:endParaRPr b="0" i="0" sz="3150" u="none" cap="none" strike="noStrike">
              <a:solidFill>
                <a:schemeClr val="dk1"/>
              </a:solidFill>
              <a:latin typeface="Calibri"/>
              <a:ea typeface="Calibri"/>
              <a:cs typeface="Calibri"/>
              <a:sym typeface="Calibri"/>
            </a:endParaRPr>
          </a:p>
        </p:txBody>
      </p:sp>
      <p:sp>
        <p:nvSpPr>
          <p:cNvPr id="95" name="Google Shape;95;p7"/>
          <p:cNvSpPr/>
          <p:nvPr/>
        </p:nvSpPr>
        <p:spPr>
          <a:xfrm>
            <a:off x="1047750" y="4667324"/>
            <a:ext cx="2762250" cy="823913"/>
          </a:xfrm>
          <a:prstGeom prst="roundRect">
            <a:avLst>
              <a:gd fmla="val 50000" name="adj"/>
            </a:avLst>
          </a:prstGeom>
          <a:solidFill>
            <a:srgbClr val="A9DC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1387316" y="4857824"/>
            <a:ext cx="2083118" cy="481012"/>
          </a:xfrm>
          <a:prstGeom prst="rect">
            <a:avLst/>
          </a:prstGeom>
          <a:noFill/>
          <a:ln>
            <a:noFill/>
          </a:ln>
        </p:spPr>
        <p:txBody>
          <a:bodyPr anchorCtr="0" anchor="t" bIns="25400" lIns="25400" spcFirstLastPara="1" rIns="25400" wrap="square" tIns="25400">
            <a:noAutofit/>
          </a:bodyPr>
          <a:lstStyle/>
          <a:p>
            <a:pPr indent="0" lvl="0" marL="0" marR="0" rtl="0" algn="ctr">
              <a:lnSpc>
                <a:spcPct val="129167"/>
              </a:lnSpc>
              <a:spcBef>
                <a:spcPts val="0"/>
              </a:spcBef>
              <a:spcAft>
                <a:spcPts val="0"/>
              </a:spcAft>
              <a:buClr>
                <a:srgbClr val="2E2745"/>
              </a:buClr>
              <a:buSzPts val="2250"/>
              <a:buFont typeface="Figtree"/>
              <a:buNone/>
            </a:pPr>
            <a:r>
              <a:rPr b="1" i="0" lang="en-US" sz="2250" u="none" cap="none" strike="noStrike">
                <a:solidFill>
                  <a:srgbClr val="2E2745"/>
                </a:solidFill>
                <a:latin typeface="Figtree"/>
                <a:ea typeface="Figtree"/>
                <a:cs typeface="Figtree"/>
                <a:sym typeface="Figtree"/>
              </a:rPr>
              <a:t>SKILLS</a:t>
            </a:r>
            <a:endParaRPr b="0" i="0" sz="2250" u="none" cap="none" strike="noStrike">
              <a:solidFill>
                <a:schemeClr val="dk1"/>
              </a:solidFill>
              <a:latin typeface="Calibri"/>
              <a:ea typeface="Calibri"/>
              <a:cs typeface="Calibri"/>
              <a:sym typeface="Calibri"/>
            </a:endParaRPr>
          </a:p>
        </p:txBody>
      </p:sp>
      <p:sp>
        <p:nvSpPr>
          <p:cNvPr id="97" name="Google Shape;97;p7"/>
          <p:cNvSpPr/>
          <p:nvPr/>
        </p:nvSpPr>
        <p:spPr>
          <a:xfrm>
            <a:off x="4191000" y="4819278"/>
            <a:ext cx="6455695" cy="558105"/>
          </a:xfrm>
          <a:prstGeom prst="rect">
            <a:avLst/>
          </a:prstGeom>
          <a:noFill/>
          <a:ln>
            <a:noFill/>
          </a:ln>
        </p:spPr>
        <p:txBody>
          <a:bodyPr anchorCtr="0" anchor="t" bIns="25400" lIns="25400" spcFirstLastPara="1" rIns="25400" wrap="square" tIns="25400">
            <a:noAutofit/>
          </a:bodyPr>
          <a:lstStyle/>
          <a:p>
            <a:pPr indent="0" lvl="0" marL="0" marR="0" rtl="0" algn="l">
              <a:lnSpc>
                <a:spcPct val="108119"/>
              </a:lnSpc>
              <a:spcBef>
                <a:spcPts val="0"/>
              </a:spcBef>
              <a:spcAft>
                <a:spcPts val="0"/>
              </a:spcAft>
              <a:buClr>
                <a:srgbClr val="2E2745"/>
              </a:buClr>
              <a:buSzPts val="3150"/>
              <a:buFont typeface="Figtree"/>
              <a:buNone/>
            </a:pPr>
            <a:r>
              <a:rPr b="0" i="0" lang="en-US" sz="3150" u="none" cap="none" strike="noStrike">
                <a:solidFill>
                  <a:srgbClr val="2E2745"/>
                </a:solidFill>
                <a:latin typeface="Figtree"/>
                <a:ea typeface="Figtree"/>
                <a:cs typeface="Figtree"/>
                <a:sym typeface="Figtree"/>
              </a:rPr>
              <a:t>Quick to pick up new social tools</a:t>
            </a:r>
            <a:endParaRPr b="0" i="0" sz="3150" u="none" cap="none" strike="noStrike">
              <a:solidFill>
                <a:schemeClr val="dk1"/>
              </a:solidFill>
              <a:latin typeface="Calibri"/>
              <a:ea typeface="Calibri"/>
              <a:cs typeface="Calibri"/>
              <a:sym typeface="Calibri"/>
            </a:endParaRPr>
          </a:p>
        </p:txBody>
      </p:sp>
      <p:sp>
        <p:nvSpPr>
          <p:cNvPr id="98" name="Google Shape;98;p7"/>
          <p:cNvSpPr/>
          <p:nvPr/>
        </p:nvSpPr>
        <p:spPr>
          <a:xfrm>
            <a:off x="1047750" y="5872237"/>
            <a:ext cx="2778993" cy="823913"/>
          </a:xfrm>
          <a:prstGeom prst="roundRect">
            <a:avLst>
              <a:gd fmla="val 50000" name="adj"/>
            </a:avLst>
          </a:prstGeom>
          <a:solidFill>
            <a:srgbClr val="FFE1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1387065" y="6062737"/>
            <a:ext cx="2100363" cy="481012"/>
          </a:xfrm>
          <a:prstGeom prst="rect">
            <a:avLst/>
          </a:prstGeom>
          <a:noFill/>
          <a:ln>
            <a:noFill/>
          </a:ln>
        </p:spPr>
        <p:txBody>
          <a:bodyPr anchorCtr="0" anchor="t" bIns="25400" lIns="25400" spcFirstLastPara="1" rIns="25400" wrap="square" tIns="25400">
            <a:noAutofit/>
          </a:bodyPr>
          <a:lstStyle/>
          <a:p>
            <a:pPr indent="0" lvl="0" marL="0" marR="0" rtl="0" algn="ctr">
              <a:lnSpc>
                <a:spcPct val="129167"/>
              </a:lnSpc>
              <a:spcBef>
                <a:spcPts val="0"/>
              </a:spcBef>
              <a:spcAft>
                <a:spcPts val="0"/>
              </a:spcAft>
              <a:buClr>
                <a:srgbClr val="2E2745"/>
              </a:buClr>
              <a:buSzPts val="2250"/>
              <a:buFont typeface="Figtree"/>
              <a:buNone/>
            </a:pPr>
            <a:r>
              <a:rPr b="1" i="0" lang="en-US" sz="2250" u="none" cap="none" strike="noStrike">
                <a:solidFill>
                  <a:srgbClr val="2E2745"/>
                </a:solidFill>
                <a:latin typeface="Figtree"/>
                <a:ea typeface="Figtree"/>
                <a:cs typeface="Figtree"/>
                <a:sym typeface="Figtree"/>
              </a:rPr>
              <a:t>WORKFLOWS</a:t>
            </a:r>
            <a:endParaRPr b="0" i="0" sz="2250" u="none" cap="none" strike="noStrike">
              <a:solidFill>
                <a:schemeClr val="dk1"/>
              </a:solidFill>
              <a:latin typeface="Calibri"/>
              <a:ea typeface="Calibri"/>
              <a:cs typeface="Calibri"/>
              <a:sym typeface="Calibri"/>
            </a:endParaRPr>
          </a:p>
        </p:txBody>
      </p:sp>
      <p:sp>
        <p:nvSpPr>
          <p:cNvPr id="100" name="Google Shape;100;p7"/>
          <p:cNvSpPr/>
          <p:nvPr/>
        </p:nvSpPr>
        <p:spPr>
          <a:xfrm>
            <a:off x="4207750" y="6024200"/>
            <a:ext cx="6026700" cy="558000"/>
          </a:xfrm>
          <a:prstGeom prst="rect">
            <a:avLst/>
          </a:prstGeom>
          <a:noFill/>
          <a:ln>
            <a:noFill/>
          </a:ln>
        </p:spPr>
        <p:txBody>
          <a:bodyPr anchorCtr="0" anchor="t" bIns="25400" lIns="25400" spcFirstLastPara="1" rIns="25400" wrap="square" tIns="25400">
            <a:noAutofit/>
          </a:bodyPr>
          <a:lstStyle/>
          <a:p>
            <a:pPr indent="0" lvl="0" marL="0" marR="0" rtl="0" algn="l">
              <a:lnSpc>
                <a:spcPct val="108119"/>
              </a:lnSpc>
              <a:spcBef>
                <a:spcPts val="0"/>
              </a:spcBef>
              <a:spcAft>
                <a:spcPts val="0"/>
              </a:spcAft>
              <a:buClr>
                <a:srgbClr val="2E2745"/>
              </a:buClr>
              <a:buSzPts val="3150"/>
              <a:buFont typeface="Figtree"/>
              <a:buNone/>
            </a:pPr>
            <a:r>
              <a:rPr b="0" i="0" lang="en-US" sz="3150" u="none" cap="none" strike="noStrike">
                <a:solidFill>
                  <a:srgbClr val="2E2745"/>
                </a:solidFill>
                <a:latin typeface="Figtree"/>
                <a:ea typeface="Figtree"/>
                <a:cs typeface="Figtree"/>
                <a:sym typeface="Figtree"/>
              </a:rPr>
              <a:t>Pockets of downtime between lectures and study</a:t>
            </a:r>
            <a:endParaRPr b="0" i="0" sz="3150" u="none" cap="none" strike="noStrike">
              <a:solidFill>
                <a:schemeClr val="dk1"/>
              </a:solidFill>
              <a:latin typeface="Calibri"/>
              <a:ea typeface="Calibri"/>
              <a:cs typeface="Calibri"/>
              <a:sym typeface="Calibri"/>
            </a:endParaRPr>
          </a:p>
        </p:txBody>
      </p:sp>
      <p:sp>
        <p:nvSpPr>
          <p:cNvPr id="101" name="Google Shape;101;p7"/>
          <p:cNvSpPr/>
          <p:nvPr/>
        </p:nvSpPr>
        <p:spPr>
          <a:xfrm>
            <a:off x="1047750" y="7077149"/>
            <a:ext cx="2762250" cy="823913"/>
          </a:xfrm>
          <a:prstGeom prst="roundRect">
            <a:avLst>
              <a:gd fmla="val 50000" name="adj"/>
            </a:avLst>
          </a:prstGeom>
          <a:solidFill>
            <a:srgbClr val="FFC7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1387316" y="7267649"/>
            <a:ext cx="2083118" cy="481012"/>
          </a:xfrm>
          <a:prstGeom prst="rect">
            <a:avLst/>
          </a:prstGeom>
          <a:noFill/>
          <a:ln>
            <a:noFill/>
          </a:ln>
        </p:spPr>
        <p:txBody>
          <a:bodyPr anchorCtr="0" anchor="t" bIns="25400" lIns="25400" spcFirstLastPara="1" rIns="25400" wrap="square" tIns="25400">
            <a:noAutofit/>
          </a:bodyPr>
          <a:lstStyle/>
          <a:p>
            <a:pPr indent="0" lvl="0" marL="0" marR="0" rtl="0" algn="ctr">
              <a:lnSpc>
                <a:spcPct val="129167"/>
              </a:lnSpc>
              <a:spcBef>
                <a:spcPts val="0"/>
              </a:spcBef>
              <a:spcAft>
                <a:spcPts val="0"/>
              </a:spcAft>
              <a:buClr>
                <a:srgbClr val="2E2745"/>
              </a:buClr>
              <a:buSzPts val="2250"/>
              <a:buFont typeface="Figtree"/>
              <a:buNone/>
            </a:pPr>
            <a:r>
              <a:rPr b="1" i="0" lang="en-US" sz="2250" u="none" cap="none" strike="noStrike">
                <a:solidFill>
                  <a:srgbClr val="2E2745"/>
                </a:solidFill>
                <a:latin typeface="Figtree"/>
                <a:ea typeface="Figtree"/>
                <a:cs typeface="Figtree"/>
                <a:sym typeface="Figtree"/>
              </a:rPr>
              <a:t>PRIORITIES</a:t>
            </a:r>
            <a:endParaRPr b="0" i="0" sz="2250" u="none" cap="none" strike="noStrike">
              <a:solidFill>
                <a:schemeClr val="dk1"/>
              </a:solidFill>
              <a:latin typeface="Calibri"/>
              <a:ea typeface="Calibri"/>
              <a:cs typeface="Calibri"/>
              <a:sym typeface="Calibri"/>
            </a:endParaRPr>
          </a:p>
        </p:txBody>
      </p:sp>
      <p:sp>
        <p:nvSpPr>
          <p:cNvPr id="103" name="Google Shape;103;p7"/>
          <p:cNvSpPr/>
          <p:nvPr/>
        </p:nvSpPr>
        <p:spPr>
          <a:xfrm>
            <a:off x="4191000" y="7229100"/>
            <a:ext cx="6266100" cy="558000"/>
          </a:xfrm>
          <a:prstGeom prst="rect">
            <a:avLst/>
          </a:prstGeom>
          <a:noFill/>
          <a:ln>
            <a:noFill/>
          </a:ln>
        </p:spPr>
        <p:txBody>
          <a:bodyPr anchorCtr="0" anchor="t" bIns="25400" lIns="25400" spcFirstLastPara="1" rIns="25400" wrap="square" tIns="25400">
            <a:noAutofit/>
          </a:bodyPr>
          <a:lstStyle/>
          <a:p>
            <a:pPr indent="0" lvl="0" marL="0" marR="0" rtl="0" algn="l">
              <a:lnSpc>
                <a:spcPct val="108119"/>
              </a:lnSpc>
              <a:spcBef>
                <a:spcPts val="0"/>
              </a:spcBef>
              <a:spcAft>
                <a:spcPts val="0"/>
              </a:spcAft>
              <a:buClr>
                <a:srgbClr val="2E2745"/>
              </a:buClr>
              <a:buSzPts val="3150"/>
              <a:buFont typeface="Figtree"/>
              <a:buNone/>
            </a:pPr>
            <a:r>
              <a:rPr b="0" i="0" lang="en-US" sz="3150" u="none" cap="none" strike="noStrike">
                <a:solidFill>
                  <a:srgbClr val="2E2745"/>
                </a:solidFill>
                <a:latin typeface="Figtree"/>
                <a:ea typeface="Figtree"/>
                <a:cs typeface="Figtree"/>
                <a:sym typeface="Figtree"/>
              </a:rPr>
              <a:t>Belonging without commitment, on their own terms</a:t>
            </a:r>
            <a:endParaRPr b="0" i="0" sz="3150" u="none" cap="none" strike="noStrike">
              <a:solidFill>
                <a:schemeClr val="dk1"/>
              </a:solidFill>
              <a:latin typeface="Calibri"/>
              <a:ea typeface="Calibri"/>
              <a:cs typeface="Calibri"/>
              <a:sym typeface="Calibri"/>
            </a:endParaRPr>
          </a:p>
        </p:txBody>
      </p:sp>
      <p:sp>
        <p:nvSpPr>
          <p:cNvPr id="104" name="Google Shape;104;p7"/>
          <p:cNvSpPr txBox="1"/>
          <p:nvPr/>
        </p:nvSpPr>
        <p:spPr>
          <a:xfrm>
            <a:off x="11352275" y="752275"/>
            <a:ext cx="6347400" cy="5391600"/>
          </a:xfrm>
          <a:prstGeom prst="rect">
            <a:avLst/>
          </a:prstGeom>
          <a:noFill/>
          <a:ln>
            <a:noFill/>
          </a:ln>
        </p:spPr>
        <p:txBody>
          <a:bodyPr anchorCtr="0" anchor="t" bIns="91425" lIns="91425" spcFirstLastPara="1" rIns="91425" wrap="square" tIns="91425">
            <a:spAutoFit/>
          </a:bodyPr>
          <a:lstStyle/>
          <a:p>
            <a:pPr indent="0" lvl="0" marL="0" rtl="0" algn="l">
              <a:lnSpc>
                <a:spcPct val="94041"/>
              </a:lnSpc>
              <a:spcBef>
                <a:spcPts val="0"/>
              </a:spcBef>
              <a:spcAft>
                <a:spcPts val="0"/>
              </a:spcAft>
              <a:buNone/>
            </a:pPr>
            <a:r>
              <a:rPr lang="en-US" sz="4800">
                <a:solidFill>
                  <a:srgbClr val="2E2745"/>
                </a:solidFill>
                <a:latin typeface="Caprasimo"/>
                <a:ea typeface="Caprasimo"/>
                <a:cs typeface="Caprasimo"/>
                <a:sym typeface="Caprasimo"/>
              </a:rPr>
              <a:t>Quotes from our domain owners:</a:t>
            </a:r>
            <a:endParaRPr sz="4800">
              <a:solidFill>
                <a:srgbClr val="2E2745"/>
              </a:solidFill>
              <a:latin typeface="Caprasimo"/>
              <a:ea typeface="Caprasimo"/>
              <a:cs typeface="Caprasimo"/>
              <a:sym typeface="Caprasimo"/>
            </a:endParaRPr>
          </a:p>
          <a:p>
            <a:pPr indent="0" lvl="0" marL="0" rtl="0" algn="l">
              <a:spcBef>
                <a:spcPts val="0"/>
              </a:spcBef>
              <a:spcAft>
                <a:spcPts val="0"/>
              </a:spcAft>
              <a:buNone/>
            </a:pPr>
            <a:r>
              <a:rPr lang="en-US" sz="2000">
                <a:solidFill>
                  <a:schemeClr val="dk1"/>
                </a:solidFill>
                <a:latin typeface="Figtree"/>
                <a:ea typeface="Figtree"/>
                <a:cs typeface="Figtree"/>
                <a:sym typeface="Figtree"/>
              </a:rPr>
              <a:t>"I think having those spurts of randomness in your life... could make a really regulated, bland life a bit spicier."</a:t>
            </a:r>
            <a:endParaRPr sz="2000">
              <a:solidFill>
                <a:schemeClr val="dk1"/>
              </a:solidFill>
              <a:latin typeface="Figtree"/>
              <a:ea typeface="Figtree"/>
              <a:cs typeface="Figtree"/>
              <a:sym typeface="Figtree"/>
            </a:endParaRPr>
          </a:p>
          <a:p>
            <a:pPr indent="0" lvl="0" marL="0" rtl="0" algn="l">
              <a:spcBef>
                <a:spcPts val="0"/>
              </a:spcBef>
              <a:spcAft>
                <a:spcPts val="0"/>
              </a:spcAft>
              <a:buNone/>
            </a:pPr>
            <a:r>
              <a:t/>
            </a:r>
            <a:endParaRPr sz="2000">
              <a:solidFill>
                <a:schemeClr val="dk1"/>
              </a:solidFill>
              <a:latin typeface="Figtree"/>
              <a:ea typeface="Figtree"/>
              <a:cs typeface="Figtree"/>
              <a:sym typeface="Figtree"/>
            </a:endParaRPr>
          </a:p>
          <a:p>
            <a:pPr indent="0" lvl="0" marL="0" rtl="0" algn="l">
              <a:spcBef>
                <a:spcPts val="0"/>
              </a:spcBef>
              <a:spcAft>
                <a:spcPts val="0"/>
              </a:spcAft>
              <a:buNone/>
            </a:pPr>
            <a:r>
              <a:rPr lang="en-US" sz="2000">
                <a:solidFill>
                  <a:schemeClr val="dk1"/>
                </a:solidFill>
                <a:latin typeface="Figtree"/>
                <a:ea typeface="Figtree"/>
                <a:cs typeface="Figtree"/>
                <a:sym typeface="Figtree"/>
              </a:rPr>
              <a:t>"There just aren't enough excuses to actually talk to people."</a:t>
            </a:r>
            <a:endParaRPr sz="2000">
              <a:solidFill>
                <a:schemeClr val="dk1"/>
              </a:solidFill>
              <a:latin typeface="Figtree"/>
              <a:ea typeface="Figtree"/>
              <a:cs typeface="Figtree"/>
              <a:sym typeface="Figtree"/>
            </a:endParaRPr>
          </a:p>
          <a:p>
            <a:pPr indent="0" lvl="0" marL="0" rtl="0" algn="l">
              <a:spcBef>
                <a:spcPts val="0"/>
              </a:spcBef>
              <a:spcAft>
                <a:spcPts val="0"/>
              </a:spcAft>
              <a:buNone/>
            </a:pPr>
            <a:r>
              <a:t/>
            </a:r>
            <a:endParaRPr sz="2000">
              <a:solidFill>
                <a:schemeClr val="dk1"/>
              </a:solidFill>
              <a:latin typeface="Figtree"/>
              <a:ea typeface="Figtree"/>
              <a:cs typeface="Figtree"/>
              <a:sym typeface="Figtree"/>
            </a:endParaRPr>
          </a:p>
          <a:p>
            <a:pPr indent="0" lvl="0" marL="0" rtl="0" algn="l">
              <a:spcBef>
                <a:spcPts val="0"/>
              </a:spcBef>
              <a:spcAft>
                <a:spcPts val="0"/>
              </a:spcAft>
              <a:buNone/>
            </a:pPr>
            <a:r>
              <a:rPr lang="en-US" sz="2000">
                <a:solidFill>
                  <a:schemeClr val="dk1"/>
                </a:solidFill>
                <a:latin typeface="Figtree"/>
                <a:ea typeface="Figtree"/>
                <a:cs typeface="Figtree"/>
                <a:sym typeface="Figtree"/>
              </a:rPr>
              <a:t>"I wish everyone was more open to socialising."</a:t>
            </a:r>
            <a:endParaRPr sz="2000">
              <a:solidFill>
                <a:schemeClr val="dk1"/>
              </a:solidFill>
              <a:latin typeface="Figtree"/>
              <a:ea typeface="Figtree"/>
              <a:cs typeface="Figtree"/>
              <a:sym typeface="Figtree"/>
            </a:endParaRPr>
          </a:p>
          <a:p>
            <a:pPr indent="0" lvl="0" marL="0" rtl="0" algn="l">
              <a:spcBef>
                <a:spcPts val="0"/>
              </a:spcBef>
              <a:spcAft>
                <a:spcPts val="0"/>
              </a:spcAft>
              <a:buNone/>
            </a:pPr>
            <a:r>
              <a:t/>
            </a:r>
            <a:endParaRPr sz="2000">
              <a:solidFill>
                <a:schemeClr val="dk1"/>
              </a:solidFill>
              <a:latin typeface="Figtree"/>
              <a:ea typeface="Figtree"/>
              <a:cs typeface="Figtree"/>
              <a:sym typeface="Figtree"/>
            </a:endParaRPr>
          </a:p>
          <a:p>
            <a:pPr indent="0" lvl="0" marL="0" rtl="0" algn="l">
              <a:spcBef>
                <a:spcPts val="0"/>
              </a:spcBef>
              <a:spcAft>
                <a:spcPts val="0"/>
              </a:spcAft>
              <a:buNone/>
            </a:pPr>
            <a:r>
              <a:rPr lang="en-US" sz="2000">
                <a:solidFill>
                  <a:schemeClr val="dk1"/>
                </a:solidFill>
                <a:latin typeface="Figtree"/>
                <a:ea typeface="Figtree"/>
                <a:cs typeface="Figtree"/>
                <a:sym typeface="Figtree"/>
              </a:rPr>
              <a:t>"I like to learn more about people. I like to make new friends."</a:t>
            </a:r>
            <a:endParaRPr sz="2000">
              <a:solidFill>
                <a:schemeClr val="dk1"/>
              </a:solidFill>
              <a:latin typeface="Figtree"/>
              <a:ea typeface="Figtree"/>
              <a:cs typeface="Figtree"/>
              <a:sym typeface="Figtree"/>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pic>
        <p:nvPicPr>
          <p:cNvPr id="105" name="Google Shape;105;p7" title="IMG_3359.jpg"/>
          <p:cNvPicPr preferRelativeResize="0"/>
          <p:nvPr/>
        </p:nvPicPr>
        <p:blipFill rotWithShape="1">
          <a:blip r:embed="rId3">
            <a:alphaModFix/>
          </a:blip>
          <a:srcRect b="10830" l="9349" r="13383" t="24044"/>
          <a:stretch/>
        </p:blipFill>
        <p:spPr>
          <a:xfrm>
            <a:off x="12948500" y="6543750"/>
            <a:ext cx="3154952" cy="3545400"/>
          </a:xfrm>
          <a:prstGeom prst="rect">
            <a:avLst/>
          </a:prstGeom>
          <a:noFill/>
          <a:ln>
            <a:noFill/>
          </a:ln>
        </p:spPr>
      </p:pic>
      <p:sp>
        <p:nvSpPr>
          <p:cNvPr id="106" name="Google Shape;106;p7"/>
          <p:cNvSpPr txBox="1"/>
          <p:nvPr/>
        </p:nvSpPr>
        <p:spPr>
          <a:xfrm>
            <a:off x="11352275" y="5702600"/>
            <a:ext cx="7041900" cy="879600"/>
          </a:xfrm>
          <a:prstGeom prst="rect">
            <a:avLst/>
          </a:prstGeom>
          <a:noFill/>
          <a:ln>
            <a:noFill/>
          </a:ln>
        </p:spPr>
        <p:txBody>
          <a:bodyPr anchorCtr="0" anchor="t" bIns="91425" lIns="91425" spcFirstLastPara="1" rIns="91425" wrap="square" tIns="91425">
            <a:spAutoFit/>
          </a:bodyPr>
          <a:lstStyle/>
          <a:p>
            <a:pPr indent="0" lvl="0" marL="0" rtl="0" algn="l">
              <a:lnSpc>
                <a:spcPct val="94041"/>
              </a:lnSpc>
              <a:spcBef>
                <a:spcPts val="0"/>
              </a:spcBef>
              <a:spcAft>
                <a:spcPts val="0"/>
              </a:spcAft>
              <a:buNone/>
            </a:pPr>
            <a:r>
              <a:rPr lang="en-US" sz="4800">
                <a:solidFill>
                  <a:srgbClr val="2E2745"/>
                </a:solidFill>
                <a:latin typeface="Caprasimo"/>
                <a:ea typeface="Caprasimo"/>
                <a:cs typeface="Caprasimo"/>
                <a:sym typeface="Caprasimo"/>
              </a:rPr>
              <a:t>Probe on Campus: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F3"/>
        </a:solidFill>
      </p:bgPr>
    </p:bg>
    <p:spTree>
      <p:nvGrpSpPr>
        <p:cNvPr id="111" name="Shape 111"/>
        <p:cNvGrpSpPr/>
        <p:nvPr/>
      </p:nvGrpSpPr>
      <p:grpSpPr>
        <a:xfrm>
          <a:off x="0" y="0"/>
          <a:ext cx="0" cy="0"/>
          <a:chOff x="0" y="0"/>
          <a:chExt cx="0" cy="0"/>
        </a:xfrm>
      </p:grpSpPr>
      <p:sp>
        <p:nvSpPr>
          <p:cNvPr id="112" name="Google Shape;112;p8"/>
          <p:cNvSpPr/>
          <p:nvPr/>
        </p:nvSpPr>
        <p:spPr>
          <a:xfrm>
            <a:off x="1047750" y="914400"/>
            <a:ext cx="17811750" cy="696441"/>
          </a:xfrm>
          <a:prstGeom prst="rect">
            <a:avLst/>
          </a:prstGeom>
          <a:noFill/>
          <a:ln>
            <a:noFill/>
          </a:ln>
        </p:spPr>
        <p:txBody>
          <a:bodyPr anchorCtr="0" anchor="t" bIns="25400" lIns="25400" spcFirstLastPara="1" rIns="25400" wrap="square" tIns="25400">
            <a:noAutofit/>
          </a:bodyPr>
          <a:lstStyle/>
          <a:p>
            <a:pPr indent="0" lvl="0" marL="0" marR="0" rtl="0" algn="l">
              <a:lnSpc>
                <a:spcPct val="94041"/>
              </a:lnSpc>
              <a:spcBef>
                <a:spcPts val="0"/>
              </a:spcBef>
              <a:spcAft>
                <a:spcPts val="0"/>
              </a:spcAft>
              <a:buClr>
                <a:srgbClr val="2E2745"/>
              </a:buClr>
              <a:buSzPts val="4800"/>
              <a:buFont typeface="Caprasimo"/>
              <a:buNone/>
            </a:pPr>
            <a:r>
              <a:rPr b="0" i="0" lang="en-US" sz="4800" u="none" cap="none" strike="noStrike">
                <a:solidFill>
                  <a:srgbClr val="2E2745"/>
                </a:solidFill>
                <a:latin typeface="Caprasimo"/>
                <a:ea typeface="Caprasimo"/>
                <a:cs typeface="Caprasimo"/>
                <a:sym typeface="Caprasimo"/>
              </a:rPr>
              <a:t>Plan of work</a:t>
            </a:r>
            <a:endParaRPr b="0" i="0" sz="4800" u="none" cap="none" strike="noStrike">
              <a:solidFill>
                <a:schemeClr val="dk1"/>
              </a:solidFill>
              <a:latin typeface="Calibri"/>
              <a:ea typeface="Calibri"/>
              <a:cs typeface="Calibri"/>
              <a:sym typeface="Calibri"/>
            </a:endParaRPr>
          </a:p>
        </p:txBody>
      </p:sp>
      <p:sp>
        <p:nvSpPr>
          <p:cNvPr id="113" name="Google Shape;113;p8"/>
          <p:cNvSpPr/>
          <p:nvPr/>
        </p:nvSpPr>
        <p:spPr>
          <a:xfrm>
            <a:off x="1047750" y="1687041"/>
            <a:ext cx="17811750" cy="411435"/>
          </a:xfrm>
          <a:prstGeom prst="rect">
            <a:avLst/>
          </a:prstGeom>
          <a:noFill/>
          <a:ln>
            <a:noFill/>
          </a:ln>
        </p:spPr>
        <p:txBody>
          <a:bodyPr anchorCtr="0" anchor="t" bIns="25400" lIns="25400" spcFirstLastPara="1" rIns="25400" wrap="square" tIns="25400">
            <a:noAutofit/>
          </a:bodyPr>
          <a:lstStyle/>
          <a:p>
            <a:pPr indent="0" lvl="0" marL="0" marR="0" rtl="0" algn="l">
              <a:lnSpc>
                <a:spcPct val="117015"/>
              </a:lnSpc>
              <a:spcBef>
                <a:spcPts val="0"/>
              </a:spcBef>
              <a:spcAft>
                <a:spcPts val="0"/>
              </a:spcAft>
              <a:buClr>
                <a:srgbClr val="5C5473"/>
              </a:buClr>
              <a:buSzPts val="2100"/>
              <a:buFont typeface="Figtree"/>
              <a:buNone/>
            </a:pPr>
            <a:r>
              <a:rPr b="0" i="0" lang="en-US" sz="2100" u="none" cap="none" strike="noStrike">
                <a:solidFill>
                  <a:srgbClr val="5C5473"/>
                </a:solidFill>
                <a:latin typeface="Figtree"/>
                <a:ea typeface="Figtree"/>
                <a:cs typeface="Figtree"/>
                <a:sym typeface="Figtree"/>
              </a:rPr>
              <a:t>What we still need to find out and how we'll investigate it</a:t>
            </a:r>
            <a:endParaRPr b="0" i="0" sz="2100" u="none" cap="none" strike="noStrike">
              <a:solidFill>
                <a:schemeClr val="dk1"/>
              </a:solidFill>
              <a:latin typeface="Calibri"/>
              <a:ea typeface="Calibri"/>
              <a:cs typeface="Calibri"/>
              <a:sym typeface="Calibri"/>
            </a:endParaRPr>
          </a:p>
        </p:txBody>
      </p:sp>
      <p:pic>
        <p:nvPicPr>
          <p:cNvPr id="114" name="Google Shape;114;p8" title="DECO3500 Plan of Work.jpg"/>
          <p:cNvPicPr preferRelativeResize="0"/>
          <p:nvPr/>
        </p:nvPicPr>
        <p:blipFill>
          <a:blip r:embed="rId3">
            <a:alphaModFix/>
          </a:blip>
          <a:stretch>
            <a:fillRect/>
          </a:stretch>
        </p:blipFill>
        <p:spPr>
          <a:xfrm>
            <a:off x="2510525" y="2174676"/>
            <a:ext cx="13266939" cy="78837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